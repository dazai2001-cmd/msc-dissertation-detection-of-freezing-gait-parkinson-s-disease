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64" r:id="rId3"/>
    <p:sldId id="268" r:id="rId4"/>
    <p:sldId id="258" r:id="rId5"/>
    <p:sldId id="261" r:id="rId6"/>
    <p:sldId id="262" r:id="rId7"/>
    <p:sldId id="263" r:id="rId8"/>
    <p:sldId id="265" r:id="rId9"/>
    <p:sldId id="257" r:id="rId10"/>
    <p:sldId id="259" r:id="rId11"/>
    <p:sldId id="271" r:id="rId12"/>
    <p:sldId id="260" r:id="rId13"/>
    <p:sldId id="266" r:id="rId14"/>
    <p:sldId id="270" r:id="rId15"/>
    <p:sldId id="273" r:id="rId16"/>
    <p:sldId id="272" r:id="rId17"/>
    <p:sldId id="267"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670DB2-3011-4223-87CD-C276EFA24778}" type="doc">
      <dgm:prSet loTypeId="urn:microsoft.com/office/officeart/2005/8/layout/vProcess5" loCatId="process" qsTypeId="urn:microsoft.com/office/officeart/2005/8/quickstyle/simple4" qsCatId="simple" csTypeId="urn:microsoft.com/office/officeart/2005/8/colors/colorful2" csCatId="colorful" phldr="1"/>
      <dgm:spPr/>
      <dgm:t>
        <a:bodyPr/>
        <a:lstStyle/>
        <a:p>
          <a:endParaRPr lang="en-US"/>
        </a:p>
      </dgm:t>
    </dgm:pt>
    <dgm:pt modelId="{EDE28736-4BD6-4FEB-A4E8-2AF4334A8943}">
      <dgm:prSet/>
      <dgm:spPr/>
      <dgm:t>
        <a:bodyPr/>
        <a:lstStyle/>
        <a:p>
          <a:r>
            <a:rPr lang="en-US"/>
            <a:t>First Objective: Develop an LSTM Model</a:t>
          </a:r>
        </a:p>
      </dgm:t>
    </dgm:pt>
    <dgm:pt modelId="{BD8D9A27-5165-480F-8EF3-CD093FED22F7}" type="parTrans" cxnId="{EA6F5F3B-37E6-4D61-9780-46853F5BF90B}">
      <dgm:prSet/>
      <dgm:spPr/>
      <dgm:t>
        <a:bodyPr/>
        <a:lstStyle/>
        <a:p>
          <a:endParaRPr lang="en-US"/>
        </a:p>
      </dgm:t>
    </dgm:pt>
    <dgm:pt modelId="{0CBBCCEA-368F-4F39-9B68-DE0F4B151C45}" type="sibTrans" cxnId="{EA6F5F3B-37E6-4D61-9780-46853F5BF90B}">
      <dgm:prSet/>
      <dgm:spPr/>
      <dgm:t>
        <a:bodyPr/>
        <a:lstStyle/>
        <a:p>
          <a:endParaRPr lang="en-US"/>
        </a:p>
      </dgm:t>
    </dgm:pt>
    <dgm:pt modelId="{BD040CB7-ACAE-49DF-A8A9-BD49F724DF71}">
      <dgm:prSet/>
      <dgm:spPr/>
      <dgm:t>
        <a:bodyPr/>
        <a:lstStyle/>
        <a:p>
          <a:r>
            <a:rPr lang="en-US" dirty="0"/>
            <a:t>Approach:</a:t>
          </a:r>
        </a:p>
      </dgm:t>
    </dgm:pt>
    <dgm:pt modelId="{40A2E4C7-3CD7-4D06-8E07-901E2250E946}" type="parTrans" cxnId="{BABD751D-6EDF-45E4-B4AD-3E73C16AE86D}">
      <dgm:prSet/>
      <dgm:spPr/>
      <dgm:t>
        <a:bodyPr/>
        <a:lstStyle/>
        <a:p>
          <a:endParaRPr lang="en-US"/>
        </a:p>
      </dgm:t>
    </dgm:pt>
    <dgm:pt modelId="{30A09F3B-73F9-47C6-8622-A86B3E3CDC2F}" type="sibTrans" cxnId="{BABD751D-6EDF-45E4-B4AD-3E73C16AE86D}">
      <dgm:prSet/>
      <dgm:spPr/>
      <dgm:t>
        <a:bodyPr/>
        <a:lstStyle/>
        <a:p>
          <a:endParaRPr lang="en-US"/>
        </a:p>
      </dgm:t>
    </dgm:pt>
    <dgm:pt modelId="{7C1969BF-0781-49DB-BB23-A1E67BA41C43}">
      <dgm:prSet/>
      <dgm:spPr/>
      <dgm:t>
        <a:bodyPr/>
        <a:lstStyle/>
        <a:p>
          <a:r>
            <a:rPr lang="en-US"/>
            <a:t>LSTM was chosen for handling </a:t>
          </a:r>
          <a:r>
            <a:rPr lang="en-US" b="1"/>
            <a:t>time-series</a:t>
          </a:r>
          <a:r>
            <a:rPr lang="en-US"/>
            <a:t> sensor data.</a:t>
          </a:r>
        </a:p>
      </dgm:t>
    </dgm:pt>
    <dgm:pt modelId="{6F66E2D7-D339-4357-B336-368AF39AA58D}" type="parTrans" cxnId="{52C6B93B-61A9-4BC5-B83D-8793B6ED2B98}">
      <dgm:prSet/>
      <dgm:spPr/>
      <dgm:t>
        <a:bodyPr/>
        <a:lstStyle/>
        <a:p>
          <a:endParaRPr lang="en-US"/>
        </a:p>
      </dgm:t>
    </dgm:pt>
    <dgm:pt modelId="{D36FECBB-2395-479E-9F08-7DCDA7179ADF}" type="sibTrans" cxnId="{52C6B93B-61A9-4BC5-B83D-8793B6ED2B98}">
      <dgm:prSet/>
      <dgm:spPr/>
      <dgm:t>
        <a:bodyPr/>
        <a:lstStyle/>
        <a:p>
          <a:endParaRPr lang="en-US"/>
        </a:p>
      </dgm:t>
    </dgm:pt>
    <dgm:pt modelId="{8D8F673D-1237-42D1-AED3-C69CFF93EF47}">
      <dgm:prSet/>
      <dgm:spPr/>
      <dgm:t>
        <a:bodyPr/>
        <a:lstStyle/>
        <a:p>
          <a:r>
            <a:rPr lang="en-US"/>
            <a:t>Expected to capture temporal patterns in movement data.</a:t>
          </a:r>
        </a:p>
      </dgm:t>
    </dgm:pt>
    <dgm:pt modelId="{DB8FA149-EC22-4AAA-9272-CD107B09D5C2}" type="parTrans" cxnId="{3F5F81CC-9208-4D2A-A9A7-99D1467B5F51}">
      <dgm:prSet/>
      <dgm:spPr/>
      <dgm:t>
        <a:bodyPr/>
        <a:lstStyle/>
        <a:p>
          <a:endParaRPr lang="en-US"/>
        </a:p>
      </dgm:t>
    </dgm:pt>
    <dgm:pt modelId="{C904017A-E1B7-4745-862F-1755F45FDFCC}" type="sibTrans" cxnId="{3F5F81CC-9208-4D2A-A9A7-99D1467B5F51}">
      <dgm:prSet/>
      <dgm:spPr/>
      <dgm:t>
        <a:bodyPr/>
        <a:lstStyle/>
        <a:p>
          <a:endParaRPr lang="en-US"/>
        </a:p>
      </dgm:t>
    </dgm:pt>
    <dgm:pt modelId="{2972C15B-A900-4A44-913B-46A02467C159}">
      <dgm:prSet/>
      <dgm:spPr/>
      <dgm:t>
        <a:bodyPr/>
        <a:lstStyle/>
        <a:p>
          <a:r>
            <a:rPr lang="en-US" dirty="0"/>
            <a:t>Outcome:</a:t>
          </a:r>
        </a:p>
      </dgm:t>
    </dgm:pt>
    <dgm:pt modelId="{AA38D159-80E4-4042-B0F4-DE2A1FBE137A}" type="parTrans" cxnId="{EC660068-D1F5-425E-8EAB-DF8E857E25A4}">
      <dgm:prSet/>
      <dgm:spPr/>
      <dgm:t>
        <a:bodyPr/>
        <a:lstStyle/>
        <a:p>
          <a:endParaRPr lang="en-US"/>
        </a:p>
      </dgm:t>
    </dgm:pt>
    <dgm:pt modelId="{D8AE5E69-0B5F-4B8C-BFDE-53AD0A093C71}" type="sibTrans" cxnId="{EC660068-D1F5-425E-8EAB-DF8E857E25A4}">
      <dgm:prSet/>
      <dgm:spPr/>
      <dgm:t>
        <a:bodyPr/>
        <a:lstStyle/>
        <a:p>
          <a:endParaRPr lang="en-US"/>
        </a:p>
      </dgm:t>
    </dgm:pt>
    <dgm:pt modelId="{618D8D72-F07D-4F1B-8214-B1730845850C}">
      <dgm:prSet/>
      <dgm:spPr/>
      <dgm:t>
        <a:bodyPr/>
        <a:lstStyle/>
        <a:p>
          <a:r>
            <a:rPr lang="en-US" b="1" dirty="0"/>
            <a:t>Low accuracy</a:t>
          </a:r>
          <a:r>
            <a:rPr lang="en-US" dirty="0"/>
            <a:t> in detecting FOG episodes.</a:t>
          </a:r>
        </a:p>
      </dgm:t>
    </dgm:pt>
    <dgm:pt modelId="{E33FB1D3-EFB4-419B-9458-9AC9F23D9C9C}" type="parTrans" cxnId="{254BF58A-B4CA-4719-80FA-944C96942FD3}">
      <dgm:prSet/>
      <dgm:spPr/>
      <dgm:t>
        <a:bodyPr/>
        <a:lstStyle/>
        <a:p>
          <a:endParaRPr lang="en-US"/>
        </a:p>
      </dgm:t>
    </dgm:pt>
    <dgm:pt modelId="{5F135B70-C57C-4B18-B3D9-496AD9BB0CEC}" type="sibTrans" cxnId="{254BF58A-B4CA-4719-80FA-944C96942FD3}">
      <dgm:prSet/>
      <dgm:spPr/>
      <dgm:t>
        <a:bodyPr/>
        <a:lstStyle/>
        <a:p>
          <a:endParaRPr lang="en-US"/>
        </a:p>
      </dgm:t>
    </dgm:pt>
    <dgm:pt modelId="{A2CF6D1B-57DB-4FEA-81DD-8518150EFE3F}">
      <dgm:prSet/>
      <dgm:spPr/>
      <dgm:t>
        <a:bodyPr/>
        <a:lstStyle/>
        <a:p>
          <a:r>
            <a:rPr lang="en-US"/>
            <a:t>LSTM struggled to effectively learn from the dataset.</a:t>
          </a:r>
        </a:p>
      </dgm:t>
    </dgm:pt>
    <dgm:pt modelId="{5A5DBC7D-013F-48C8-8C8F-3B0365799766}" type="parTrans" cxnId="{53E20A88-6489-4F1E-BDFD-0082782EB4D2}">
      <dgm:prSet/>
      <dgm:spPr/>
      <dgm:t>
        <a:bodyPr/>
        <a:lstStyle/>
        <a:p>
          <a:endParaRPr lang="en-US"/>
        </a:p>
      </dgm:t>
    </dgm:pt>
    <dgm:pt modelId="{31A25565-5750-4846-BEF2-8DC7CFD37C04}" type="sibTrans" cxnId="{53E20A88-6489-4F1E-BDFD-0082782EB4D2}">
      <dgm:prSet/>
      <dgm:spPr/>
      <dgm:t>
        <a:bodyPr/>
        <a:lstStyle/>
        <a:p>
          <a:endParaRPr lang="en-US"/>
        </a:p>
      </dgm:t>
    </dgm:pt>
    <dgm:pt modelId="{B8C9B2E1-A8C9-440C-B945-5D142A4B07D3}" type="pres">
      <dgm:prSet presAssocID="{0A670DB2-3011-4223-87CD-C276EFA24778}" presName="outerComposite" presStyleCnt="0">
        <dgm:presLayoutVars>
          <dgm:chMax val="5"/>
          <dgm:dir/>
          <dgm:resizeHandles val="exact"/>
        </dgm:presLayoutVars>
      </dgm:prSet>
      <dgm:spPr/>
    </dgm:pt>
    <dgm:pt modelId="{8FD00E3B-9E9F-4AA3-9D2C-4D67A307C7AC}" type="pres">
      <dgm:prSet presAssocID="{0A670DB2-3011-4223-87CD-C276EFA24778}" presName="dummyMaxCanvas" presStyleCnt="0">
        <dgm:presLayoutVars/>
      </dgm:prSet>
      <dgm:spPr/>
    </dgm:pt>
    <dgm:pt modelId="{9E8B7452-AD6B-4782-BC9E-FBE190E26274}" type="pres">
      <dgm:prSet presAssocID="{0A670DB2-3011-4223-87CD-C276EFA24778}" presName="ThreeNodes_1" presStyleLbl="node1" presStyleIdx="0" presStyleCnt="3">
        <dgm:presLayoutVars>
          <dgm:bulletEnabled val="1"/>
        </dgm:presLayoutVars>
      </dgm:prSet>
      <dgm:spPr/>
    </dgm:pt>
    <dgm:pt modelId="{813BF8F0-80EC-4C93-B9D9-5E098D9AA0BB}" type="pres">
      <dgm:prSet presAssocID="{0A670DB2-3011-4223-87CD-C276EFA24778}" presName="ThreeNodes_2" presStyleLbl="node1" presStyleIdx="1" presStyleCnt="3" custLinFactNeighborX="-1755" custLinFactNeighborY="-36071">
        <dgm:presLayoutVars>
          <dgm:bulletEnabled val="1"/>
        </dgm:presLayoutVars>
      </dgm:prSet>
      <dgm:spPr/>
    </dgm:pt>
    <dgm:pt modelId="{A8151324-AE7F-4270-89E6-487CC7E9FE88}" type="pres">
      <dgm:prSet presAssocID="{0A670DB2-3011-4223-87CD-C276EFA24778}" presName="ThreeNodes_3" presStyleLbl="node1" presStyleIdx="2" presStyleCnt="3" custLinFactNeighborX="-6081" custLinFactNeighborY="-33160">
        <dgm:presLayoutVars>
          <dgm:bulletEnabled val="1"/>
        </dgm:presLayoutVars>
      </dgm:prSet>
      <dgm:spPr/>
    </dgm:pt>
    <dgm:pt modelId="{E7035AC3-2F05-4404-91B4-33A878849CAA}" type="pres">
      <dgm:prSet presAssocID="{0A670DB2-3011-4223-87CD-C276EFA24778}" presName="ThreeConn_1-2" presStyleLbl="fgAccFollowNode1" presStyleIdx="0" presStyleCnt="2" custLinFactX="100000" custLinFactY="-11434" custLinFactNeighborX="112562" custLinFactNeighborY="-100000">
        <dgm:presLayoutVars>
          <dgm:bulletEnabled val="1"/>
        </dgm:presLayoutVars>
      </dgm:prSet>
      <dgm:spPr>
        <a:prstGeom prst="rect">
          <a:avLst/>
        </a:prstGeom>
      </dgm:spPr>
    </dgm:pt>
    <dgm:pt modelId="{6EAB9844-A2C4-4860-AEAA-9C606FC67625}" type="pres">
      <dgm:prSet presAssocID="{0A670DB2-3011-4223-87CD-C276EFA24778}" presName="ThreeConn_2-3" presStyleLbl="fgAccFollowNode1" presStyleIdx="1" presStyleCnt="2" custLinFactX="-24267" custLinFactNeighborX="-100000" custLinFactNeighborY="-37934">
        <dgm:presLayoutVars>
          <dgm:bulletEnabled val="1"/>
        </dgm:presLayoutVars>
      </dgm:prSet>
      <dgm:spPr/>
    </dgm:pt>
    <dgm:pt modelId="{4778C71C-D1D8-493B-A709-E470432C3BE0}" type="pres">
      <dgm:prSet presAssocID="{0A670DB2-3011-4223-87CD-C276EFA24778}" presName="ThreeNodes_1_text" presStyleLbl="node1" presStyleIdx="2" presStyleCnt="3">
        <dgm:presLayoutVars>
          <dgm:bulletEnabled val="1"/>
        </dgm:presLayoutVars>
      </dgm:prSet>
      <dgm:spPr/>
    </dgm:pt>
    <dgm:pt modelId="{50D2B24C-B7C4-4FCA-8D09-D435EB7074E2}" type="pres">
      <dgm:prSet presAssocID="{0A670DB2-3011-4223-87CD-C276EFA24778}" presName="ThreeNodes_2_text" presStyleLbl="node1" presStyleIdx="2" presStyleCnt="3">
        <dgm:presLayoutVars>
          <dgm:bulletEnabled val="1"/>
        </dgm:presLayoutVars>
      </dgm:prSet>
      <dgm:spPr/>
    </dgm:pt>
    <dgm:pt modelId="{90EC2EBF-8CB9-4A04-BBF2-7BAFA50E8E07}" type="pres">
      <dgm:prSet presAssocID="{0A670DB2-3011-4223-87CD-C276EFA24778}" presName="ThreeNodes_3_text" presStyleLbl="node1" presStyleIdx="2" presStyleCnt="3">
        <dgm:presLayoutVars>
          <dgm:bulletEnabled val="1"/>
        </dgm:presLayoutVars>
      </dgm:prSet>
      <dgm:spPr/>
    </dgm:pt>
  </dgm:ptLst>
  <dgm:cxnLst>
    <dgm:cxn modelId="{F67B2011-4703-47EE-9EF7-EF336E6F801B}" type="presOf" srcId="{0CBBCCEA-368F-4F39-9B68-DE0F4B151C45}" destId="{E7035AC3-2F05-4404-91B4-33A878849CAA}" srcOrd="0" destOrd="0" presId="urn:microsoft.com/office/officeart/2005/8/layout/vProcess5"/>
    <dgm:cxn modelId="{BABD751D-6EDF-45E4-B4AD-3E73C16AE86D}" srcId="{0A670DB2-3011-4223-87CD-C276EFA24778}" destId="{BD040CB7-ACAE-49DF-A8A9-BD49F724DF71}" srcOrd="1" destOrd="0" parTransId="{40A2E4C7-3CD7-4D06-8E07-901E2250E946}" sibTransId="{30A09F3B-73F9-47C6-8622-A86B3E3CDC2F}"/>
    <dgm:cxn modelId="{D1E6CA22-7CEE-456C-9319-4AC36F0314CA}" type="presOf" srcId="{BD040CB7-ACAE-49DF-A8A9-BD49F724DF71}" destId="{50D2B24C-B7C4-4FCA-8D09-D435EB7074E2}" srcOrd="1" destOrd="0" presId="urn:microsoft.com/office/officeart/2005/8/layout/vProcess5"/>
    <dgm:cxn modelId="{D79CB52E-F967-4759-AAE4-8A7F40138011}" type="presOf" srcId="{A2CF6D1B-57DB-4FEA-81DD-8518150EFE3F}" destId="{90EC2EBF-8CB9-4A04-BBF2-7BAFA50E8E07}" srcOrd="1" destOrd="2" presId="urn:microsoft.com/office/officeart/2005/8/layout/vProcess5"/>
    <dgm:cxn modelId="{126E7B30-9834-4B82-A155-F5EB018B14F8}" type="presOf" srcId="{BD040CB7-ACAE-49DF-A8A9-BD49F724DF71}" destId="{813BF8F0-80EC-4C93-B9D9-5E098D9AA0BB}" srcOrd="0" destOrd="0" presId="urn:microsoft.com/office/officeart/2005/8/layout/vProcess5"/>
    <dgm:cxn modelId="{EA6F5F3B-37E6-4D61-9780-46853F5BF90B}" srcId="{0A670DB2-3011-4223-87CD-C276EFA24778}" destId="{EDE28736-4BD6-4FEB-A4E8-2AF4334A8943}" srcOrd="0" destOrd="0" parTransId="{BD8D9A27-5165-480F-8EF3-CD093FED22F7}" sibTransId="{0CBBCCEA-368F-4F39-9B68-DE0F4B151C45}"/>
    <dgm:cxn modelId="{52C6B93B-61A9-4BC5-B83D-8793B6ED2B98}" srcId="{BD040CB7-ACAE-49DF-A8A9-BD49F724DF71}" destId="{7C1969BF-0781-49DB-BB23-A1E67BA41C43}" srcOrd="0" destOrd="0" parTransId="{6F66E2D7-D339-4357-B336-368AF39AA58D}" sibTransId="{D36FECBB-2395-479E-9F08-7DCDA7179ADF}"/>
    <dgm:cxn modelId="{9E69A23F-8F67-41B3-A595-DEA9A467E4AC}" type="presOf" srcId="{618D8D72-F07D-4F1B-8214-B1730845850C}" destId="{90EC2EBF-8CB9-4A04-BBF2-7BAFA50E8E07}" srcOrd="1" destOrd="1" presId="urn:microsoft.com/office/officeart/2005/8/layout/vProcess5"/>
    <dgm:cxn modelId="{EC660068-D1F5-425E-8EAB-DF8E857E25A4}" srcId="{0A670DB2-3011-4223-87CD-C276EFA24778}" destId="{2972C15B-A900-4A44-913B-46A02467C159}" srcOrd="2" destOrd="0" parTransId="{AA38D159-80E4-4042-B0F4-DE2A1FBE137A}" sibTransId="{D8AE5E69-0B5F-4B8C-BFDE-53AD0A093C71}"/>
    <dgm:cxn modelId="{80CE2E6D-642A-4D53-9125-426ACB7EFDF8}" type="presOf" srcId="{0A670DB2-3011-4223-87CD-C276EFA24778}" destId="{B8C9B2E1-A8C9-440C-B945-5D142A4B07D3}" srcOrd="0" destOrd="0" presId="urn:microsoft.com/office/officeart/2005/8/layout/vProcess5"/>
    <dgm:cxn modelId="{3A67744D-11BF-449B-8735-18850AC8B40F}" type="presOf" srcId="{7C1969BF-0781-49DB-BB23-A1E67BA41C43}" destId="{813BF8F0-80EC-4C93-B9D9-5E098D9AA0BB}" srcOrd="0" destOrd="1" presId="urn:microsoft.com/office/officeart/2005/8/layout/vProcess5"/>
    <dgm:cxn modelId="{331F0F70-A57A-410B-A070-39BE335F0E5F}" type="presOf" srcId="{30A09F3B-73F9-47C6-8622-A86B3E3CDC2F}" destId="{6EAB9844-A2C4-4860-AEAA-9C606FC67625}" srcOrd="0" destOrd="0" presId="urn:microsoft.com/office/officeart/2005/8/layout/vProcess5"/>
    <dgm:cxn modelId="{57564D81-9385-4669-B0D6-0B6D9DA80547}" type="presOf" srcId="{2972C15B-A900-4A44-913B-46A02467C159}" destId="{A8151324-AE7F-4270-89E6-487CC7E9FE88}" srcOrd="0" destOrd="0" presId="urn:microsoft.com/office/officeart/2005/8/layout/vProcess5"/>
    <dgm:cxn modelId="{53E20A88-6489-4F1E-BDFD-0082782EB4D2}" srcId="{2972C15B-A900-4A44-913B-46A02467C159}" destId="{A2CF6D1B-57DB-4FEA-81DD-8518150EFE3F}" srcOrd="1" destOrd="0" parTransId="{5A5DBC7D-013F-48C8-8C8F-3B0365799766}" sibTransId="{31A25565-5750-4846-BEF2-8DC7CFD37C04}"/>
    <dgm:cxn modelId="{254BF58A-B4CA-4719-80FA-944C96942FD3}" srcId="{2972C15B-A900-4A44-913B-46A02467C159}" destId="{618D8D72-F07D-4F1B-8214-B1730845850C}" srcOrd="0" destOrd="0" parTransId="{E33FB1D3-EFB4-419B-9458-9AC9F23D9C9C}" sibTransId="{5F135B70-C57C-4B18-B3D9-496AD9BB0CEC}"/>
    <dgm:cxn modelId="{A9FAC590-377D-4ACF-B8C7-F410C17FF926}" type="presOf" srcId="{7C1969BF-0781-49DB-BB23-A1E67BA41C43}" destId="{50D2B24C-B7C4-4FCA-8D09-D435EB7074E2}" srcOrd="1" destOrd="1" presId="urn:microsoft.com/office/officeart/2005/8/layout/vProcess5"/>
    <dgm:cxn modelId="{56EB3A96-52F5-4BA2-96B2-98667127E344}" type="presOf" srcId="{EDE28736-4BD6-4FEB-A4E8-2AF4334A8943}" destId="{9E8B7452-AD6B-4782-BC9E-FBE190E26274}" srcOrd="0" destOrd="0" presId="urn:microsoft.com/office/officeart/2005/8/layout/vProcess5"/>
    <dgm:cxn modelId="{8CAABD9B-2D20-4E75-891D-763BB1DB202F}" type="presOf" srcId="{618D8D72-F07D-4F1B-8214-B1730845850C}" destId="{A8151324-AE7F-4270-89E6-487CC7E9FE88}" srcOrd="0" destOrd="1" presId="urn:microsoft.com/office/officeart/2005/8/layout/vProcess5"/>
    <dgm:cxn modelId="{E324299E-DD50-4B57-A314-657F01E3047F}" type="presOf" srcId="{2972C15B-A900-4A44-913B-46A02467C159}" destId="{90EC2EBF-8CB9-4A04-BBF2-7BAFA50E8E07}" srcOrd="1" destOrd="0" presId="urn:microsoft.com/office/officeart/2005/8/layout/vProcess5"/>
    <dgm:cxn modelId="{98BC18AD-1809-43AA-8F1D-CE7A49BC0FBE}" type="presOf" srcId="{A2CF6D1B-57DB-4FEA-81DD-8518150EFE3F}" destId="{A8151324-AE7F-4270-89E6-487CC7E9FE88}" srcOrd="0" destOrd="2" presId="urn:microsoft.com/office/officeart/2005/8/layout/vProcess5"/>
    <dgm:cxn modelId="{39B510BF-F73A-430F-B7FD-A57137880E11}" type="presOf" srcId="{8D8F673D-1237-42D1-AED3-C69CFF93EF47}" destId="{813BF8F0-80EC-4C93-B9D9-5E098D9AA0BB}" srcOrd="0" destOrd="2" presId="urn:microsoft.com/office/officeart/2005/8/layout/vProcess5"/>
    <dgm:cxn modelId="{76DFB9C2-9A0C-4A7D-A6B0-AE2BDB3DDCFA}" type="presOf" srcId="{EDE28736-4BD6-4FEB-A4E8-2AF4334A8943}" destId="{4778C71C-D1D8-493B-A709-E470432C3BE0}" srcOrd="1" destOrd="0" presId="urn:microsoft.com/office/officeart/2005/8/layout/vProcess5"/>
    <dgm:cxn modelId="{3F5F81CC-9208-4D2A-A9A7-99D1467B5F51}" srcId="{BD040CB7-ACAE-49DF-A8A9-BD49F724DF71}" destId="{8D8F673D-1237-42D1-AED3-C69CFF93EF47}" srcOrd="1" destOrd="0" parTransId="{DB8FA149-EC22-4AAA-9272-CD107B09D5C2}" sibTransId="{C904017A-E1B7-4745-862F-1755F45FDFCC}"/>
    <dgm:cxn modelId="{A48BA3FC-2A41-4B44-B09F-230849137734}" type="presOf" srcId="{8D8F673D-1237-42D1-AED3-C69CFF93EF47}" destId="{50D2B24C-B7C4-4FCA-8D09-D435EB7074E2}" srcOrd="1" destOrd="2" presId="urn:microsoft.com/office/officeart/2005/8/layout/vProcess5"/>
    <dgm:cxn modelId="{8856E120-E102-4585-8F82-8AFD8572BA0A}" type="presParOf" srcId="{B8C9B2E1-A8C9-440C-B945-5D142A4B07D3}" destId="{8FD00E3B-9E9F-4AA3-9D2C-4D67A307C7AC}" srcOrd="0" destOrd="0" presId="urn:microsoft.com/office/officeart/2005/8/layout/vProcess5"/>
    <dgm:cxn modelId="{B66AF19D-8030-4D43-8E11-3BDED93EBDB9}" type="presParOf" srcId="{B8C9B2E1-A8C9-440C-B945-5D142A4B07D3}" destId="{9E8B7452-AD6B-4782-BC9E-FBE190E26274}" srcOrd="1" destOrd="0" presId="urn:microsoft.com/office/officeart/2005/8/layout/vProcess5"/>
    <dgm:cxn modelId="{26D0AAF6-675A-4E85-A5CF-41D8A4D31926}" type="presParOf" srcId="{B8C9B2E1-A8C9-440C-B945-5D142A4B07D3}" destId="{813BF8F0-80EC-4C93-B9D9-5E098D9AA0BB}" srcOrd="2" destOrd="0" presId="urn:microsoft.com/office/officeart/2005/8/layout/vProcess5"/>
    <dgm:cxn modelId="{2560291C-4FCE-4439-8785-C6EEF6E9CE62}" type="presParOf" srcId="{B8C9B2E1-A8C9-440C-B945-5D142A4B07D3}" destId="{A8151324-AE7F-4270-89E6-487CC7E9FE88}" srcOrd="3" destOrd="0" presId="urn:microsoft.com/office/officeart/2005/8/layout/vProcess5"/>
    <dgm:cxn modelId="{45C749A3-37B1-43BB-8AF9-C738AD4A7665}" type="presParOf" srcId="{B8C9B2E1-A8C9-440C-B945-5D142A4B07D3}" destId="{E7035AC3-2F05-4404-91B4-33A878849CAA}" srcOrd="4" destOrd="0" presId="urn:microsoft.com/office/officeart/2005/8/layout/vProcess5"/>
    <dgm:cxn modelId="{E15B3EBC-BC7D-4CEA-829D-7C3349ADBABF}" type="presParOf" srcId="{B8C9B2E1-A8C9-440C-B945-5D142A4B07D3}" destId="{6EAB9844-A2C4-4860-AEAA-9C606FC67625}" srcOrd="5" destOrd="0" presId="urn:microsoft.com/office/officeart/2005/8/layout/vProcess5"/>
    <dgm:cxn modelId="{A9838C8B-C480-4DF8-952E-8E8934A2E48B}" type="presParOf" srcId="{B8C9B2E1-A8C9-440C-B945-5D142A4B07D3}" destId="{4778C71C-D1D8-493B-A709-E470432C3BE0}" srcOrd="6" destOrd="0" presId="urn:microsoft.com/office/officeart/2005/8/layout/vProcess5"/>
    <dgm:cxn modelId="{DA900FE8-5AF3-400F-940B-E95E09AB7A46}" type="presParOf" srcId="{B8C9B2E1-A8C9-440C-B945-5D142A4B07D3}" destId="{50D2B24C-B7C4-4FCA-8D09-D435EB7074E2}" srcOrd="7" destOrd="0" presId="urn:microsoft.com/office/officeart/2005/8/layout/vProcess5"/>
    <dgm:cxn modelId="{0CC1E01A-A14C-4CD1-8CE7-CADD462E6009}" type="presParOf" srcId="{B8C9B2E1-A8C9-440C-B945-5D142A4B07D3}" destId="{90EC2EBF-8CB9-4A04-BBF2-7BAFA50E8E07}"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8B7452-AD6B-4782-BC9E-FBE190E26274}">
      <dsp:nvSpPr>
        <dsp:cNvPr id="0" name=""/>
        <dsp:cNvSpPr/>
      </dsp:nvSpPr>
      <dsp:spPr>
        <a:xfrm>
          <a:off x="0" y="0"/>
          <a:ext cx="8420099" cy="1075455"/>
        </a:xfrm>
        <a:prstGeom prst="roundRect">
          <a:avLst>
            <a:gd name="adj" fmla="val 10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First Objective: Develop an LSTM Model</a:t>
          </a:r>
        </a:p>
      </dsp:txBody>
      <dsp:txXfrm>
        <a:off x="31499" y="31499"/>
        <a:ext cx="7259599" cy="1012457"/>
      </dsp:txXfrm>
    </dsp:sp>
    <dsp:sp modelId="{813BF8F0-80EC-4C93-B9D9-5E098D9AA0BB}">
      <dsp:nvSpPr>
        <dsp:cNvPr id="0" name=""/>
        <dsp:cNvSpPr/>
      </dsp:nvSpPr>
      <dsp:spPr>
        <a:xfrm>
          <a:off x="595177" y="866770"/>
          <a:ext cx="8420099" cy="1075455"/>
        </a:xfrm>
        <a:prstGeom prst="roundRect">
          <a:avLst>
            <a:gd name="adj" fmla="val 10000"/>
          </a:avLst>
        </a:prstGeom>
        <a:gradFill rotWithShape="0">
          <a:gsLst>
            <a:gs pos="0">
              <a:schemeClr val="accent2">
                <a:hueOff val="-734515"/>
                <a:satOff val="-16247"/>
                <a:lumOff val="-3235"/>
                <a:alphaOff val="0"/>
                <a:tint val="94000"/>
                <a:satMod val="105000"/>
                <a:lumMod val="102000"/>
              </a:schemeClr>
            </a:gs>
            <a:gs pos="100000">
              <a:schemeClr val="accent2">
                <a:hueOff val="-734515"/>
                <a:satOff val="-16247"/>
                <a:lumOff val="-323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Approach:</a:t>
          </a:r>
        </a:p>
        <a:p>
          <a:pPr marL="171450" lvl="1" indent="-171450" algn="l" defTabSz="755650">
            <a:lnSpc>
              <a:spcPct val="90000"/>
            </a:lnSpc>
            <a:spcBef>
              <a:spcPct val="0"/>
            </a:spcBef>
            <a:spcAft>
              <a:spcPct val="15000"/>
            </a:spcAft>
            <a:buChar char="•"/>
          </a:pPr>
          <a:r>
            <a:rPr lang="en-US" sz="1700" kern="1200"/>
            <a:t>LSTM was chosen for handling </a:t>
          </a:r>
          <a:r>
            <a:rPr lang="en-US" sz="1700" b="1" kern="1200"/>
            <a:t>time-series</a:t>
          </a:r>
          <a:r>
            <a:rPr lang="en-US" sz="1700" kern="1200"/>
            <a:t> sensor data.</a:t>
          </a:r>
        </a:p>
        <a:p>
          <a:pPr marL="171450" lvl="1" indent="-171450" algn="l" defTabSz="755650">
            <a:lnSpc>
              <a:spcPct val="90000"/>
            </a:lnSpc>
            <a:spcBef>
              <a:spcPct val="0"/>
            </a:spcBef>
            <a:spcAft>
              <a:spcPct val="15000"/>
            </a:spcAft>
            <a:buChar char="•"/>
          </a:pPr>
          <a:r>
            <a:rPr lang="en-US" sz="1700" kern="1200"/>
            <a:t>Expected to capture temporal patterns in movement data.</a:t>
          </a:r>
        </a:p>
      </dsp:txBody>
      <dsp:txXfrm>
        <a:off x="626676" y="898269"/>
        <a:ext cx="6915105" cy="1012457"/>
      </dsp:txXfrm>
    </dsp:sp>
    <dsp:sp modelId="{A8151324-AE7F-4270-89E6-487CC7E9FE88}">
      <dsp:nvSpPr>
        <dsp:cNvPr id="0" name=""/>
        <dsp:cNvSpPr/>
      </dsp:nvSpPr>
      <dsp:spPr>
        <a:xfrm>
          <a:off x="973873" y="2152774"/>
          <a:ext cx="8420099" cy="1075455"/>
        </a:xfrm>
        <a:prstGeom prst="roundRect">
          <a:avLst>
            <a:gd name="adj" fmla="val 10000"/>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Outcome:</a:t>
          </a:r>
        </a:p>
        <a:p>
          <a:pPr marL="171450" lvl="1" indent="-171450" algn="l" defTabSz="755650">
            <a:lnSpc>
              <a:spcPct val="90000"/>
            </a:lnSpc>
            <a:spcBef>
              <a:spcPct val="0"/>
            </a:spcBef>
            <a:spcAft>
              <a:spcPct val="15000"/>
            </a:spcAft>
            <a:buChar char="•"/>
          </a:pPr>
          <a:r>
            <a:rPr lang="en-US" sz="1700" b="1" kern="1200" dirty="0"/>
            <a:t>Low accuracy</a:t>
          </a:r>
          <a:r>
            <a:rPr lang="en-US" sz="1700" kern="1200" dirty="0"/>
            <a:t> in detecting FOG episodes.</a:t>
          </a:r>
        </a:p>
        <a:p>
          <a:pPr marL="171450" lvl="1" indent="-171450" algn="l" defTabSz="755650">
            <a:lnSpc>
              <a:spcPct val="90000"/>
            </a:lnSpc>
            <a:spcBef>
              <a:spcPct val="0"/>
            </a:spcBef>
            <a:spcAft>
              <a:spcPct val="15000"/>
            </a:spcAft>
            <a:buChar char="•"/>
          </a:pPr>
          <a:r>
            <a:rPr lang="en-US" sz="1700" kern="1200"/>
            <a:t>LSTM struggled to effectively learn from the dataset.</a:t>
          </a:r>
        </a:p>
      </dsp:txBody>
      <dsp:txXfrm>
        <a:off x="1005372" y="2184273"/>
        <a:ext cx="6915105" cy="1012457"/>
      </dsp:txXfrm>
    </dsp:sp>
    <dsp:sp modelId="{E7035AC3-2F05-4404-91B4-33A878849CAA}">
      <dsp:nvSpPr>
        <dsp:cNvPr id="0" name=""/>
        <dsp:cNvSpPr/>
      </dsp:nvSpPr>
      <dsp:spPr>
        <a:xfrm>
          <a:off x="9206953" y="36578"/>
          <a:ext cx="699045" cy="699045"/>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206953" y="36578"/>
        <a:ext cx="699045" cy="699045"/>
      </dsp:txXfrm>
    </dsp:sp>
    <dsp:sp modelId="{6EAB9844-A2C4-4860-AEAA-9C606FC67625}">
      <dsp:nvSpPr>
        <dsp:cNvPr id="0" name=""/>
        <dsp:cNvSpPr/>
      </dsp:nvSpPr>
      <dsp:spPr>
        <a:xfrm>
          <a:off x="7595320" y="1797905"/>
          <a:ext cx="699045" cy="699045"/>
        </a:xfrm>
        <a:prstGeom prst="downArrow">
          <a:avLst>
            <a:gd name="adj1" fmla="val 55000"/>
            <a:gd name="adj2" fmla="val 45000"/>
          </a:avLst>
        </a:prstGeom>
        <a:solidFill>
          <a:schemeClr val="accent2">
            <a:tint val="40000"/>
            <a:alpha val="90000"/>
            <a:hueOff val="-1195736"/>
            <a:satOff val="-42564"/>
            <a:lumOff val="-2706"/>
            <a:alphaOff val="0"/>
          </a:schemeClr>
        </a:solidFill>
        <a:ln w="9525" cap="flat" cmpd="sng" algn="ctr">
          <a:solidFill>
            <a:schemeClr val="accent2">
              <a:tint val="40000"/>
              <a:alpha val="90000"/>
              <a:hueOff val="-1195736"/>
              <a:satOff val="-42564"/>
              <a:lumOff val="-270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7752605" y="1797905"/>
        <a:ext cx="384475" cy="526031"/>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0B4E8-64A9-4982-ABE3-0C5225788014}" type="datetimeFigureOut">
              <a:rPr lang="en-IN" smtClean="0"/>
              <a:t>31-10-2024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15BF37-E91E-4E9F-947E-F9451AD0362E}" type="slidenum">
              <a:rPr lang="en-IN" smtClean="0"/>
              <a:t>‹#›</a:t>
            </a:fld>
            <a:endParaRPr lang="en-IN"/>
          </a:p>
        </p:txBody>
      </p:sp>
    </p:spTree>
    <p:extLst>
      <p:ext uri="{BB962C8B-B14F-4D97-AF65-F5344CB8AC3E}">
        <p14:creationId xmlns:p14="http://schemas.microsoft.com/office/powerpoint/2010/main" val="69594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E15BF37-E91E-4E9F-947E-F9451AD0362E}" type="slidenum">
              <a:rPr lang="en-IN" smtClean="0"/>
              <a:t>1</a:t>
            </a:fld>
            <a:endParaRPr lang="en-IN"/>
          </a:p>
        </p:txBody>
      </p:sp>
    </p:spTree>
    <p:extLst>
      <p:ext uri="{BB962C8B-B14F-4D97-AF65-F5344CB8AC3E}">
        <p14:creationId xmlns:p14="http://schemas.microsoft.com/office/powerpoint/2010/main" val="2717425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E15BF37-E91E-4E9F-947E-F9451AD0362E}" type="slidenum">
              <a:rPr lang="en-IN" smtClean="0"/>
              <a:t>6</a:t>
            </a:fld>
            <a:endParaRPr lang="en-IN"/>
          </a:p>
        </p:txBody>
      </p:sp>
    </p:spTree>
    <p:extLst>
      <p:ext uri="{BB962C8B-B14F-4D97-AF65-F5344CB8AC3E}">
        <p14:creationId xmlns:p14="http://schemas.microsoft.com/office/powerpoint/2010/main" val="38064946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10/31/2024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10/31/2024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ideo" Target="https://www.youtube.com/embed/RX3dzd8Lkeo?feature=oembed" TargetMode="Externa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8E68-2C86-2D44-ADA9-2347A33F13B8}"/>
              </a:ext>
            </a:extLst>
          </p:cNvPr>
          <p:cNvSpPr>
            <a:spLocks noGrp="1"/>
          </p:cNvSpPr>
          <p:nvPr>
            <p:ph type="ctrTitle"/>
          </p:nvPr>
        </p:nvSpPr>
        <p:spPr/>
        <p:txBody>
          <a:bodyPr>
            <a:normAutofit fontScale="90000"/>
          </a:bodyPr>
          <a:lstStyle/>
          <a:p>
            <a:pPr algn="ctr"/>
            <a:r>
              <a:rPr lang="en-US" dirty="0"/>
              <a:t>Detecting Freezing of Gait Episodes in Parkinson's Disease Patients using Deep Learning</a:t>
            </a:r>
            <a:endParaRPr lang="en-IN" dirty="0"/>
          </a:p>
        </p:txBody>
      </p:sp>
      <p:sp>
        <p:nvSpPr>
          <p:cNvPr id="3" name="Subtitle 2">
            <a:extLst>
              <a:ext uri="{FF2B5EF4-FFF2-40B4-BE49-F238E27FC236}">
                <a16:creationId xmlns:a16="http://schemas.microsoft.com/office/drawing/2014/main" id="{795B9F3F-B9CB-A409-B7B7-AE36426406A5}"/>
              </a:ext>
            </a:extLst>
          </p:cNvPr>
          <p:cNvSpPr>
            <a:spLocks noGrp="1"/>
          </p:cNvSpPr>
          <p:nvPr>
            <p:ph type="subTitle" idx="1"/>
          </p:nvPr>
        </p:nvSpPr>
        <p:spPr>
          <a:xfrm>
            <a:off x="1876424" y="3602038"/>
            <a:ext cx="8791575" cy="1026233"/>
          </a:xfrm>
        </p:spPr>
        <p:txBody>
          <a:bodyPr/>
          <a:lstStyle/>
          <a:p>
            <a:pPr algn="ctr"/>
            <a:r>
              <a:rPr lang="en-US" dirty="0"/>
              <a:t>Prepared By </a:t>
            </a:r>
          </a:p>
          <a:p>
            <a:pPr algn="ctr"/>
            <a:r>
              <a:rPr lang="en-US" dirty="0"/>
              <a:t>Rahul Stanly Keecheril</a:t>
            </a:r>
            <a:endParaRPr lang="en-IN" dirty="0"/>
          </a:p>
        </p:txBody>
      </p:sp>
      <p:sp>
        <p:nvSpPr>
          <p:cNvPr id="5" name="TextBox 4">
            <a:extLst>
              <a:ext uri="{FF2B5EF4-FFF2-40B4-BE49-F238E27FC236}">
                <a16:creationId xmlns:a16="http://schemas.microsoft.com/office/drawing/2014/main" id="{180AD7ED-74ED-2482-E778-ECAECCB869B0}"/>
              </a:ext>
            </a:extLst>
          </p:cNvPr>
          <p:cNvSpPr txBox="1"/>
          <p:nvPr/>
        </p:nvSpPr>
        <p:spPr>
          <a:xfrm>
            <a:off x="1876424" y="4628271"/>
            <a:ext cx="8791575" cy="1200329"/>
          </a:xfrm>
          <a:prstGeom prst="rect">
            <a:avLst/>
          </a:prstGeom>
          <a:noFill/>
        </p:spPr>
        <p:txBody>
          <a:bodyPr wrap="square" rtlCol="0">
            <a:spAutoFit/>
          </a:bodyPr>
          <a:lstStyle/>
          <a:p>
            <a:pPr algn="ctr"/>
            <a:r>
              <a:rPr lang="en-US" sz="1800" b="0" i="0" u="none" strike="noStrike" baseline="0" dirty="0">
                <a:solidFill>
                  <a:schemeClr val="tx2">
                    <a:lumMod val="40000"/>
                    <a:lumOff val="60000"/>
                  </a:schemeClr>
                </a:solidFill>
                <a:latin typeface="+mj-lt"/>
              </a:rPr>
              <a:t>DATA AND PARTICIPANT CATEGORIES: D0</a:t>
            </a:r>
          </a:p>
          <a:p>
            <a:pPr algn="ctr"/>
            <a:r>
              <a:rPr lang="en-US" dirty="0">
                <a:solidFill>
                  <a:schemeClr val="tx2">
                    <a:lumMod val="40000"/>
                    <a:lumOff val="60000"/>
                  </a:schemeClr>
                </a:solidFill>
                <a:latin typeface="+mj-lt"/>
              </a:rPr>
              <a:t>“I confirm that I have followed the ethical guidance provided by the university for this project. Any changes to the data or participant categories, or any new evaluation activities, have been updated in this statement and approved by my supervisor before implementation</a:t>
            </a:r>
            <a:endParaRPr lang="en-IN" dirty="0">
              <a:solidFill>
                <a:schemeClr val="tx2">
                  <a:lumMod val="40000"/>
                  <a:lumOff val="60000"/>
                </a:schemeClr>
              </a:solidFill>
              <a:latin typeface="+mj-lt"/>
            </a:endParaRPr>
          </a:p>
        </p:txBody>
      </p:sp>
    </p:spTree>
    <p:extLst>
      <p:ext uri="{BB962C8B-B14F-4D97-AF65-F5344CB8AC3E}">
        <p14:creationId xmlns:p14="http://schemas.microsoft.com/office/powerpoint/2010/main" val="3444454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1CDC0-FE46-8A9A-D5C0-F0981AEF015D}"/>
              </a:ext>
            </a:extLst>
          </p:cNvPr>
          <p:cNvSpPr>
            <a:spLocks noGrp="1"/>
          </p:cNvSpPr>
          <p:nvPr>
            <p:ph type="title"/>
          </p:nvPr>
        </p:nvSpPr>
        <p:spPr/>
        <p:txBody>
          <a:bodyPr/>
          <a:lstStyle/>
          <a:p>
            <a:r>
              <a:rPr lang="en-US" dirty="0"/>
              <a:t>Understanding Freezing of Gait (FOG) in Parkinson's Disease</a:t>
            </a:r>
            <a:endParaRPr lang="en-IN" dirty="0"/>
          </a:p>
        </p:txBody>
      </p:sp>
      <p:sp>
        <p:nvSpPr>
          <p:cNvPr id="3" name="Content Placeholder 2">
            <a:extLst>
              <a:ext uri="{FF2B5EF4-FFF2-40B4-BE49-F238E27FC236}">
                <a16:creationId xmlns:a16="http://schemas.microsoft.com/office/drawing/2014/main" id="{1280F94E-9F9D-CD3B-D5E7-980A905C3CEB}"/>
              </a:ext>
            </a:extLst>
          </p:cNvPr>
          <p:cNvSpPr>
            <a:spLocks noGrp="1"/>
          </p:cNvSpPr>
          <p:nvPr>
            <p:ph idx="1"/>
          </p:nvPr>
        </p:nvSpPr>
        <p:spPr/>
        <p:txBody>
          <a:bodyPr>
            <a:normAutofit fontScale="85000" lnSpcReduction="10000"/>
          </a:bodyPr>
          <a:lstStyle/>
          <a:p>
            <a:r>
              <a:rPr lang="en-US" dirty="0"/>
              <a:t>Definition: A common motor symptom in Parkinson’s where patients temporarily feel "stuck," unable to initiate or continue walking.</a:t>
            </a:r>
          </a:p>
          <a:p>
            <a:r>
              <a:rPr lang="en-US" dirty="0"/>
              <a:t>Why FOG Matters:</a:t>
            </a:r>
          </a:p>
          <a:p>
            <a:pPr lvl="1"/>
            <a:r>
              <a:rPr lang="en-US" dirty="0"/>
              <a:t>Leads to increased fall risk, injuries, and loss of independence.</a:t>
            </a:r>
          </a:p>
          <a:p>
            <a:pPr lvl="1"/>
            <a:r>
              <a:rPr lang="en-US" dirty="0"/>
              <a:t>Affects mobility and quality of life, often causing anxiety about movement.</a:t>
            </a:r>
          </a:p>
          <a:p>
            <a:r>
              <a:rPr lang="en-US" dirty="0"/>
              <a:t>Triggers: Narrow spaces, turns, and high-stress situations.</a:t>
            </a:r>
          </a:p>
          <a:p>
            <a:r>
              <a:rPr lang="en-US" dirty="0"/>
              <a:t>Importance of Detection:</a:t>
            </a:r>
          </a:p>
          <a:p>
            <a:pPr lvl="1"/>
            <a:r>
              <a:rPr lang="en-US" dirty="0"/>
              <a:t>Early detection is critical for targeted therapies and personalized interventions.</a:t>
            </a:r>
          </a:p>
          <a:p>
            <a:pPr lvl="1"/>
            <a:r>
              <a:rPr lang="en-US" dirty="0"/>
              <a:t>Monitoring FOG helps researchers and clinicians better understand Parkinson's progression.</a:t>
            </a:r>
            <a:endParaRPr lang="en-IN" dirty="0"/>
          </a:p>
        </p:txBody>
      </p:sp>
    </p:spTree>
    <p:extLst>
      <p:ext uri="{BB962C8B-B14F-4D97-AF65-F5344CB8AC3E}">
        <p14:creationId xmlns:p14="http://schemas.microsoft.com/office/powerpoint/2010/main" val="4233644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2"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94" name="Group 93">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95"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96"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7"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8"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99"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0"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1"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2"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3"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4"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5"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6"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7"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8"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9"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0"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1"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2"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3"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4"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5"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6"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7"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8"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9"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0"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1"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2"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3"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24"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5"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6"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7"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8"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9"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0"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1"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2"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3"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4"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5"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36"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7"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8"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9"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0"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1"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2"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3"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4"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5"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6"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7"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8"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150" name="Rectangle 149">
            <a:extLst>
              <a:ext uri="{FF2B5EF4-FFF2-40B4-BE49-F238E27FC236}">
                <a16:creationId xmlns:a16="http://schemas.microsoft.com/office/drawing/2014/main" id="{34106153-7990-4956-BD26-A04A03006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52" name="Picture 2">
            <a:extLst>
              <a:ext uri="{FF2B5EF4-FFF2-40B4-BE49-F238E27FC236}">
                <a16:creationId xmlns:a16="http://schemas.microsoft.com/office/drawing/2014/main" id="{BDEA11A5-20BA-4650-A324-47C0465FF5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54" name="Group 153">
            <a:extLst>
              <a:ext uri="{FF2B5EF4-FFF2-40B4-BE49-F238E27FC236}">
                <a16:creationId xmlns:a16="http://schemas.microsoft.com/office/drawing/2014/main" id="{866FCB64-0A37-46EB-8A9B-EC0C4C000A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155" name="Rectangle 5">
              <a:extLst>
                <a:ext uri="{FF2B5EF4-FFF2-40B4-BE49-F238E27FC236}">
                  <a16:creationId xmlns:a16="http://schemas.microsoft.com/office/drawing/2014/main" id="{8A162E18-5BEB-4E42-9B10-A1FDF6A0B8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56" name="Freeform 6">
              <a:extLst>
                <a:ext uri="{FF2B5EF4-FFF2-40B4-BE49-F238E27FC236}">
                  <a16:creationId xmlns:a16="http://schemas.microsoft.com/office/drawing/2014/main" id="{7BB781C9-EC32-45FE-ACE7-C24F128C4C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7" name="Freeform 7">
              <a:extLst>
                <a:ext uri="{FF2B5EF4-FFF2-40B4-BE49-F238E27FC236}">
                  <a16:creationId xmlns:a16="http://schemas.microsoft.com/office/drawing/2014/main" id="{927C5647-36E8-4A20-86D4-47831D50CF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8" name="Rectangle 8">
              <a:extLst>
                <a:ext uri="{FF2B5EF4-FFF2-40B4-BE49-F238E27FC236}">
                  <a16:creationId xmlns:a16="http://schemas.microsoft.com/office/drawing/2014/main" id="{62F2AF20-CBBE-4249-B9E2-D6B30191CF8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59" name="Freeform 9">
              <a:extLst>
                <a:ext uri="{FF2B5EF4-FFF2-40B4-BE49-F238E27FC236}">
                  <a16:creationId xmlns:a16="http://schemas.microsoft.com/office/drawing/2014/main" id="{731C1229-F8A7-4B36-A52B-98A65EF869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0" name="Freeform 10">
              <a:extLst>
                <a:ext uri="{FF2B5EF4-FFF2-40B4-BE49-F238E27FC236}">
                  <a16:creationId xmlns:a16="http://schemas.microsoft.com/office/drawing/2014/main" id="{609AC686-2DBB-4D82-866C-9FF222BDD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1" name="Freeform 11">
              <a:extLst>
                <a:ext uri="{FF2B5EF4-FFF2-40B4-BE49-F238E27FC236}">
                  <a16:creationId xmlns:a16="http://schemas.microsoft.com/office/drawing/2014/main" id="{F899E6EB-BCDD-45D2-BF4B-9CA3A2798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2" name="Freeform 12">
              <a:extLst>
                <a:ext uri="{FF2B5EF4-FFF2-40B4-BE49-F238E27FC236}">
                  <a16:creationId xmlns:a16="http://schemas.microsoft.com/office/drawing/2014/main" id="{BBD3AAC8-2330-4FAB-8E31-3D50AD954F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3" name="Freeform 13">
              <a:extLst>
                <a:ext uri="{FF2B5EF4-FFF2-40B4-BE49-F238E27FC236}">
                  <a16:creationId xmlns:a16="http://schemas.microsoft.com/office/drawing/2014/main" id="{6B54F723-A70A-4865-A560-7850498A1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4" name="Freeform 14">
              <a:extLst>
                <a:ext uri="{FF2B5EF4-FFF2-40B4-BE49-F238E27FC236}">
                  <a16:creationId xmlns:a16="http://schemas.microsoft.com/office/drawing/2014/main" id="{9B911CCD-C9A2-4DC8-A278-3C6FD76A7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5" name="Freeform 15">
              <a:extLst>
                <a:ext uri="{FF2B5EF4-FFF2-40B4-BE49-F238E27FC236}">
                  <a16:creationId xmlns:a16="http://schemas.microsoft.com/office/drawing/2014/main" id="{D559B729-03FB-435D-89BF-AF57A801B37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6" name="Freeform 16">
              <a:extLst>
                <a:ext uri="{FF2B5EF4-FFF2-40B4-BE49-F238E27FC236}">
                  <a16:creationId xmlns:a16="http://schemas.microsoft.com/office/drawing/2014/main" id="{D1C90213-0F60-4268-BE48-8221E61614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7" name="Freeform 17">
              <a:extLst>
                <a:ext uri="{FF2B5EF4-FFF2-40B4-BE49-F238E27FC236}">
                  <a16:creationId xmlns:a16="http://schemas.microsoft.com/office/drawing/2014/main" id="{A7A6A293-A06F-48B8-865A-3F65287B85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8" name="Freeform 18">
              <a:extLst>
                <a:ext uri="{FF2B5EF4-FFF2-40B4-BE49-F238E27FC236}">
                  <a16:creationId xmlns:a16="http://schemas.microsoft.com/office/drawing/2014/main" id="{8F6861B5-AAA4-4017-929E-1FD1CA106C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9" name="Freeform 19">
              <a:extLst>
                <a:ext uri="{FF2B5EF4-FFF2-40B4-BE49-F238E27FC236}">
                  <a16:creationId xmlns:a16="http://schemas.microsoft.com/office/drawing/2014/main" id="{D776D07C-2081-4DD3-A464-40F3CA41A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0" name="Freeform 20">
              <a:extLst>
                <a:ext uri="{FF2B5EF4-FFF2-40B4-BE49-F238E27FC236}">
                  <a16:creationId xmlns:a16="http://schemas.microsoft.com/office/drawing/2014/main" id="{BBC236D6-77E5-4B3C-92D7-D708B237DB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1" name="Freeform 21">
              <a:extLst>
                <a:ext uri="{FF2B5EF4-FFF2-40B4-BE49-F238E27FC236}">
                  <a16:creationId xmlns:a16="http://schemas.microsoft.com/office/drawing/2014/main" id="{8064714E-7ADE-4BD9-8981-34C135762C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2" name="Freeform 22">
              <a:extLst>
                <a:ext uri="{FF2B5EF4-FFF2-40B4-BE49-F238E27FC236}">
                  <a16:creationId xmlns:a16="http://schemas.microsoft.com/office/drawing/2014/main" id="{2FD1F23F-B1EE-46F5-B460-924E54A70D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3" name="Freeform 23">
              <a:extLst>
                <a:ext uri="{FF2B5EF4-FFF2-40B4-BE49-F238E27FC236}">
                  <a16:creationId xmlns:a16="http://schemas.microsoft.com/office/drawing/2014/main" id="{9699361A-3AFF-4826-B99C-0354EAB079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4" name="Freeform 24">
              <a:extLst>
                <a:ext uri="{FF2B5EF4-FFF2-40B4-BE49-F238E27FC236}">
                  <a16:creationId xmlns:a16="http://schemas.microsoft.com/office/drawing/2014/main" id="{B272F7B1-7BE2-4FC9-BB91-207EFD9E65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5" name="Freeform 25">
              <a:extLst>
                <a:ext uri="{FF2B5EF4-FFF2-40B4-BE49-F238E27FC236}">
                  <a16:creationId xmlns:a16="http://schemas.microsoft.com/office/drawing/2014/main" id="{CDE59C1F-AFD9-4DD5-B04A-9EB2AAED5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6" name="Freeform 26">
              <a:extLst>
                <a:ext uri="{FF2B5EF4-FFF2-40B4-BE49-F238E27FC236}">
                  <a16:creationId xmlns:a16="http://schemas.microsoft.com/office/drawing/2014/main" id="{1551E418-6CD4-4320-8224-F084039C53E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7" name="Freeform 27">
              <a:extLst>
                <a:ext uri="{FF2B5EF4-FFF2-40B4-BE49-F238E27FC236}">
                  <a16:creationId xmlns:a16="http://schemas.microsoft.com/office/drawing/2014/main" id="{1F27D4B1-EBD4-4BC9-AC2E-3AD616C847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8" name="Freeform 28">
              <a:extLst>
                <a:ext uri="{FF2B5EF4-FFF2-40B4-BE49-F238E27FC236}">
                  <a16:creationId xmlns:a16="http://schemas.microsoft.com/office/drawing/2014/main" id="{C42B8D84-898A-4F76-A0F2-5699ED72BC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9" name="Freeform 29">
              <a:extLst>
                <a:ext uri="{FF2B5EF4-FFF2-40B4-BE49-F238E27FC236}">
                  <a16:creationId xmlns:a16="http://schemas.microsoft.com/office/drawing/2014/main" id="{B440932E-7985-4BA6-9899-F22A64485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0" name="Freeform 30">
              <a:extLst>
                <a:ext uri="{FF2B5EF4-FFF2-40B4-BE49-F238E27FC236}">
                  <a16:creationId xmlns:a16="http://schemas.microsoft.com/office/drawing/2014/main" id="{4B8CE969-CA1A-48CB-8588-4146F41F33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1" name="Freeform 31">
              <a:extLst>
                <a:ext uri="{FF2B5EF4-FFF2-40B4-BE49-F238E27FC236}">
                  <a16:creationId xmlns:a16="http://schemas.microsoft.com/office/drawing/2014/main" id="{138A4875-4593-4894-89D5-DFCFF0EED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2" name="Freeform 32">
              <a:extLst>
                <a:ext uri="{FF2B5EF4-FFF2-40B4-BE49-F238E27FC236}">
                  <a16:creationId xmlns:a16="http://schemas.microsoft.com/office/drawing/2014/main" id="{F079F26B-58E4-494E-A8BA-3F054F1F3BB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3" name="Rectangle 33">
              <a:extLst>
                <a:ext uri="{FF2B5EF4-FFF2-40B4-BE49-F238E27FC236}">
                  <a16:creationId xmlns:a16="http://schemas.microsoft.com/office/drawing/2014/main" id="{04C9ECC5-BB4A-4417-B874-B75953F84F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84" name="Freeform 34">
              <a:extLst>
                <a:ext uri="{FF2B5EF4-FFF2-40B4-BE49-F238E27FC236}">
                  <a16:creationId xmlns:a16="http://schemas.microsoft.com/office/drawing/2014/main" id="{4CCCF285-B51D-4A2F-8384-830A391711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5" name="Freeform 35">
              <a:extLst>
                <a:ext uri="{FF2B5EF4-FFF2-40B4-BE49-F238E27FC236}">
                  <a16:creationId xmlns:a16="http://schemas.microsoft.com/office/drawing/2014/main" id="{BD6C6299-A09A-47DF-8A96-69D39FCA5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6" name="Freeform 36">
              <a:extLst>
                <a:ext uri="{FF2B5EF4-FFF2-40B4-BE49-F238E27FC236}">
                  <a16:creationId xmlns:a16="http://schemas.microsoft.com/office/drawing/2014/main" id="{EE60C4B9-C404-42CD-8E94-70D4DC16A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7" name="Freeform 37">
              <a:extLst>
                <a:ext uri="{FF2B5EF4-FFF2-40B4-BE49-F238E27FC236}">
                  <a16:creationId xmlns:a16="http://schemas.microsoft.com/office/drawing/2014/main" id="{52BD4447-C1EB-4798-8764-AB93EA9303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8" name="Freeform 38">
              <a:extLst>
                <a:ext uri="{FF2B5EF4-FFF2-40B4-BE49-F238E27FC236}">
                  <a16:creationId xmlns:a16="http://schemas.microsoft.com/office/drawing/2014/main" id="{50411559-C414-4F7C-BC6C-69F87BC9C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9" name="Freeform 39">
              <a:extLst>
                <a:ext uri="{FF2B5EF4-FFF2-40B4-BE49-F238E27FC236}">
                  <a16:creationId xmlns:a16="http://schemas.microsoft.com/office/drawing/2014/main" id="{64737770-BB27-41C0-95CB-529054508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0" name="Freeform 40">
              <a:extLst>
                <a:ext uri="{FF2B5EF4-FFF2-40B4-BE49-F238E27FC236}">
                  <a16:creationId xmlns:a16="http://schemas.microsoft.com/office/drawing/2014/main" id="{28929FDB-16CF-4165-B32A-EB673EFB7C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1" name="Freeform 41">
              <a:extLst>
                <a:ext uri="{FF2B5EF4-FFF2-40B4-BE49-F238E27FC236}">
                  <a16:creationId xmlns:a16="http://schemas.microsoft.com/office/drawing/2014/main" id="{D8C82883-237C-4209-9545-E832FEE3A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2" name="Freeform 42">
              <a:extLst>
                <a:ext uri="{FF2B5EF4-FFF2-40B4-BE49-F238E27FC236}">
                  <a16:creationId xmlns:a16="http://schemas.microsoft.com/office/drawing/2014/main" id="{F1A52653-BD09-4D65-B05C-2AF4A6473A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3" name="Freeform 43">
              <a:extLst>
                <a:ext uri="{FF2B5EF4-FFF2-40B4-BE49-F238E27FC236}">
                  <a16:creationId xmlns:a16="http://schemas.microsoft.com/office/drawing/2014/main" id="{30724E80-2FD3-4E4A-A3EA-18A4C8886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4" name="Freeform 44">
              <a:extLst>
                <a:ext uri="{FF2B5EF4-FFF2-40B4-BE49-F238E27FC236}">
                  <a16:creationId xmlns:a16="http://schemas.microsoft.com/office/drawing/2014/main" id="{F1B978C7-7BC5-4F73-8B02-66A3CF67CE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5" name="Rectangle 45">
              <a:extLst>
                <a:ext uri="{FF2B5EF4-FFF2-40B4-BE49-F238E27FC236}">
                  <a16:creationId xmlns:a16="http://schemas.microsoft.com/office/drawing/2014/main" id="{799F0CED-DF8F-4350-A036-1981FBE5968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96" name="Freeform 46">
              <a:extLst>
                <a:ext uri="{FF2B5EF4-FFF2-40B4-BE49-F238E27FC236}">
                  <a16:creationId xmlns:a16="http://schemas.microsoft.com/office/drawing/2014/main" id="{9F4DD366-0E86-4E99-9557-496E88B42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7" name="Freeform 47">
              <a:extLst>
                <a:ext uri="{FF2B5EF4-FFF2-40B4-BE49-F238E27FC236}">
                  <a16:creationId xmlns:a16="http://schemas.microsoft.com/office/drawing/2014/main" id="{78BB3321-D5DC-4951-AB38-0C54E3D01D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8" name="Freeform 48">
              <a:extLst>
                <a:ext uri="{FF2B5EF4-FFF2-40B4-BE49-F238E27FC236}">
                  <a16:creationId xmlns:a16="http://schemas.microsoft.com/office/drawing/2014/main" id="{955E548C-7F86-45B2-A0D2-03EAC578D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9" name="Freeform 49">
              <a:extLst>
                <a:ext uri="{FF2B5EF4-FFF2-40B4-BE49-F238E27FC236}">
                  <a16:creationId xmlns:a16="http://schemas.microsoft.com/office/drawing/2014/main" id="{0013F508-5E69-4911-AD93-4ABE3E7C56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0" name="Freeform 50">
              <a:extLst>
                <a:ext uri="{FF2B5EF4-FFF2-40B4-BE49-F238E27FC236}">
                  <a16:creationId xmlns:a16="http://schemas.microsoft.com/office/drawing/2014/main" id="{A7F86768-93E0-4044-A62A-B11EB18FF2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1" name="Freeform 51">
              <a:extLst>
                <a:ext uri="{FF2B5EF4-FFF2-40B4-BE49-F238E27FC236}">
                  <a16:creationId xmlns:a16="http://schemas.microsoft.com/office/drawing/2014/main" id="{BA32A7B4-1DB2-4E4A-B86E-D8DB97B696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2" name="Freeform 52">
              <a:extLst>
                <a:ext uri="{FF2B5EF4-FFF2-40B4-BE49-F238E27FC236}">
                  <a16:creationId xmlns:a16="http://schemas.microsoft.com/office/drawing/2014/main" id="{AB250BD5-076C-4428-B6AF-E9EAE4F65E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3" name="Freeform 53">
              <a:extLst>
                <a:ext uri="{FF2B5EF4-FFF2-40B4-BE49-F238E27FC236}">
                  <a16:creationId xmlns:a16="http://schemas.microsoft.com/office/drawing/2014/main" id="{027DA06A-045F-4711-9307-0508B6ACFA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4" name="Freeform 54">
              <a:extLst>
                <a:ext uri="{FF2B5EF4-FFF2-40B4-BE49-F238E27FC236}">
                  <a16:creationId xmlns:a16="http://schemas.microsoft.com/office/drawing/2014/main" id="{3EB0EDA8-385A-4B2B-97F0-5194F23EB5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5" name="Freeform 55">
              <a:extLst>
                <a:ext uri="{FF2B5EF4-FFF2-40B4-BE49-F238E27FC236}">
                  <a16:creationId xmlns:a16="http://schemas.microsoft.com/office/drawing/2014/main" id="{D6FA258E-AF3F-47C9-9F4E-39ECFD7AC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6" name="Freeform 56">
              <a:extLst>
                <a:ext uri="{FF2B5EF4-FFF2-40B4-BE49-F238E27FC236}">
                  <a16:creationId xmlns:a16="http://schemas.microsoft.com/office/drawing/2014/main" id="{6E471E73-A9C0-4C68-BD8F-360F2ED7BD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7" name="Freeform 57">
              <a:extLst>
                <a:ext uri="{FF2B5EF4-FFF2-40B4-BE49-F238E27FC236}">
                  <a16:creationId xmlns:a16="http://schemas.microsoft.com/office/drawing/2014/main" id="{C78C3110-8153-4163-B809-0B0C0C9E5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8" name="Freeform 58">
              <a:extLst>
                <a:ext uri="{FF2B5EF4-FFF2-40B4-BE49-F238E27FC236}">
                  <a16:creationId xmlns:a16="http://schemas.microsoft.com/office/drawing/2014/main" id="{DBC57B9F-0B9B-4EDE-B3B3-7C5D5DB399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C49B775D-E14A-0202-7696-4ABABF8B3B47}"/>
              </a:ext>
            </a:extLst>
          </p:cNvPr>
          <p:cNvSpPr>
            <a:spLocks noGrp="1"/>
          </p:cNvSpPr>
          <p:nvPr>
            <p:ph type="title"/>
          </p:nvPr>
        </p:nvSpPr>
        <p:spPr>
          <a:xfrm>
            <a:off x="1876425" y="1113282"/>
            <a:ext cx="3734941" cy="2396681"/>
          </a:xfrm>
        </p:spPr>
        <p:txBody>
          <a:bodyPr vert="horz" lIns="91440" tIns="45720" rIns="91440" bIns="45720" rtlCol="0" anchor="b">
            <a:normAutofit/>
          </a:bodyPr>
          <a:lstStyle/>
          <a:p>
            <a:r>
              <a:rPr lang="en-US" sz="4100">
                <a:solidFill>
                  <a:srgbClr val="FFFFFF"/>
                </a:solidFill>
              </a:rPr>
              <a:t>Video: comparison before and after tdcs</a:t>
            </a:r>
          </a:p>
        </p:txBody>
      </p:sp>
      <p:sp useBgFill="1">
        <p:nvSpPr>
          <p:cNvPr id="210" name="Round Diagonal Corner Rectangle 6">
            <a:extLst>
              <a:ext uri="{FF2B5EF4-FFF2-40B4-BE49-F238E27FC236}">
                <a16:creationId xmlns:a16="http://schemas.microsoft.com/office/drawing/2014/main" id="{62B94F88-FD5B-4053-B143-DFF55CE44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808057"/>
            <a:ext cx="5286376" cy="5234394"/>
          </a:xfrm>
          <a:prstGeom prst="round2DiagRect">
            <a:avLst>
              <a:gd name="adj1" fmla="val 6185"/>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title="Multitarget tDCS for Freezing of Gait in Parkinson’s Disease.">
            <a:hlinkClick r:id="" action="ppaction://media"/>
            <a:extLst>
              <a:ext uri="{FF2B5EF4-FFF2-40B4-BE49-F238E27FC236}">
                <a16:creationId xmlns:a16="http://schemas.microsoft.com/office/drawing/2014/main" id="{61AD10F3-8AD3-9372-8B80-BA4F5E6720B2}"/>
              </a:ext>
            </a:extLst>
          </p:cNvPr>
          <p:cNvPicPr>
            <a:picLocks noRot="1" noChangeAspect="1"/>
          </p:cNvPicPr>
          <p:nvPr>
            <a:videoFile r:link="rId1"/>
          </p:nvPr>
        </p:nvPicPr>
        <p:blipFill>
          <a:blip r:embed="rId4"/>
          <a:stretch>
            <a:fillRect/>
          </a:stretch>
        </p:blipFill>
        <p:spPr>
          <a:xfrm>
            <a:off x="6421396" y="1686911"/>
            <a:ext cx="4635583" cy="3476687"/>
          </a:xfrm>
          <a:prstGeom prst="rect">
            <a:avLst/>
          </a:prstGeom>
        </p:spPr>
      </p:pic>
    </p:spTree>
    <p:extLst>
      <p:ext uri="{BB962C8B-B14F-4D97-AF65-F5344CB8AC3E}">
        <p14:creationId xmlns:p14="http://schemas.microsoft.com/office/powerpoint/2010/main" val="14022461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FECA-3178-1A0C-B67B-B72A83D35B1D}"/>
              </a:ext>
            </a:extLst>
          </p:cNvPr>
          <p:cNvSpPr>
            <a:spLocks noGrp="1"/>
          </p:cNvSpPr>
          <p:nvPr>
            <p:ph type="title"/>
          </p:nvPr>
        </p:nvSpPr>
        <p:spPr/>
        <p:txBody>
          <a:bodyPr/>
          <a:lstStyle/>
          <a:p>
            <a:r>
              <a:rPr lang="en-US" dirty="0"/>
              <a:t>THE DATASET</a:t>
            </a:r>
            <a:endParaRPr lang="en-IN" dirty="0"/>
          </a:p>
        </p:txBody>
      </p:sp>
      <p:sp>
        <p:nvSpPr>
          <p:cNvPr id="3" name="Content Placeholder 2">
            <a:extLst>
              <a:ext uri="{FF2B5EF4-FFF2-40B4-BE49-F238E27FC236}">
                <a16:creationId xmlns:a16="http://schemas.microsoft.com/office/drawing/2014/main" id="{727B60CF-0CB7-C8B7-A6D7-ABCEC19A691F}"/>
              </a:ext>
            </a:extLst>
          </p:cNvPr>
          <p:cNvSpPr>
            <a:spLocks noGrp="1"/>
          </p:cNvSpPr>
          <p:nvPr>
            <p:ph idx="1"/>
          </p:nvPr>
        </p:nvSpPr>
        <p:spPr/>
        <p:txBody>
          <a:bodyPr/>
          <a:lstStyle/>
          <a:p>
            <a:r>
              <a:rPr lang="en-US" dirty="0"/>
              <a:t>2 Datasets</a:t>
            </a:r>
            <a:r>
              <a:rPr lang="en-IN" dirty="0"/>
              <a:t>: One before TDCS and one after TDCS (defog)</a:t>
            </a:r>
          </a:p>
          <a:p>
            <a:r>
              <a:rPr lang="en-IN" dirty="0"/>
              <a:t>TDCS: </a:t>
            </a:r>
            <a:r>
              <a:rPr lang="en-IN" b="0" i="0" dirty="0">
                <a:solidFill>
                  <a:srgbClr val="EEF0FF"/>
                </a:solidFill>
                <a:effectLst/>
                <a:latin typeface="Google Sans"/>
              </a:rPr>
              <a:t>Transcranial direct current stimulation is a </a:t>
            </a:r>
            <a:r>
              <a:rPr lang="en-US" b="0" i="0" dirty="0">
                <a:solidFill>
                  <a:srgbClr val="EEF0FF"/>
                </a:solidFill>
                <a:effectLst/>
                <a:latin typeface="Google Sans"/>
              </a:rPr>
              <a:t>non-invasive brain stimulation technique that uses a weak electrical current to stimulate the brain</a:t>
            </a:r>
          </a:p>
          <a:p>
            <a:r>
              <a:rPr lang="en-US" dirty="0">
                <a:solidFill>
                  <a:srgbClr val="EEF0FF"/>
                </a:solidFill>
                <a:latin typeface="Google Sans"/>
              </a:rPr>
              <a:t>Both contained acceleration data along time and what caused </a:t>
            </a:r>
            <a:r>
              <a:rPr lang="en-US" dirty="0" err="1">
                <a:solidFill>
                  <a:srgbClr val="EEF0FF"/>
                </a:solidFill>
                <a:latin typeface="Google Sans"/>
              </a:rPr>
              <a:t>FoG</a:t>
            </a:r>
            <a:r>
              <a:rPr lang="en-US" dirty="0">
                <a:solidFill>
                  <a:srgbClr val="EEF0FF"/>
                </a:solidFill>
                <a:latin typeface="Google Sans"/>
              </a:rPr>
              <a:t> in the patient</a:t>
            </a:r>
            <a:endParaRPr lang="en-US" dirty="0"/>
          </a:p>
        </p:txBody>
      </p:sp>
    </p:spTree>
    <p:extLst>
      <p:ext uri="{BB962C8B-B14F-4D97-AF65-F5344CB8AC3E}">
        <p14:creationId xmlns:p14="http://schemas.microsoft.com/office/powerpoint/2010/main" val="828844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6E072-88BA-164E-94D8-FDB2D8790C0A}"/>
              </a:ext>
            </a:extLst>
          </p:cNvPr>
          <p:cNvSpPr>
            <a:spLocks noGrp="1"/>
          </p:cNvSpPr>
          <p:nvPr>
            <p:ph type="title"/>
          </p:nvPr>
        </p:nvSpPr>
        <p:spPr/>
        <p:txBody>
          <a:bodyPr/>
          <a:lstStyle/>
          <a:p>
            <a:r>
              <a:rPr lang="en-US" dirty="0"/>
              <a:t>Dataset contd..</a:t>
            </a:r>
            <a:endParaRPr lang="en-IN" dirty="0"/>
          </a:p>
        </p:txBody>
      </p:sp>
      <p:sp>
        <p:nvSpPr>
          <p:cNvPr id="3" name="Content Placeholder 2">
            <a:extLst>
              <a:ext uri="{FF2B5EF4-FFF2-40B4-BE49-F238E27FC236}">
                <a16:creationId xmlns:a16="http://schemas.microsoft.com/office/drawing/2014/main" id="{10ED4D8C-B4D6-43AD-19E4-4466F98E8134}"/>
              </a:ext>
            </a:extLst>
          </p:cNvPr>
          <p:cNvSpPr>
            <a:spLocks noGrp="1"/>
          </p:cNvSpPr>
          <p:nvPr>
            <p:ph idx="1"/>
          </p:nvPr>
        </p:nvSpPr>
        <p:spPr/>
        <p:txBody>
          <a:bodyPr>
            <a:normAutofit lnSpcReduction="10000"/>
          </a:bodyPr>
          <a:lstStyle/>
          <a:p>
            <a:r>
              <a:rPr lang="en-US" dirty="0"/>
              <a:t>Attributes</a:t>
            </a:r>
          </a:p>
          <a:p>
            <a:pPr lvl="1"/>
            <a:r>
              <a:rPr lang="en-US" dirty="0" err="1"/>
              <a:t>AccV</a:t>
            </a:r>
            <a:r>
              <a:rPr lang="en-US" dirty="0"/>
              <a:t> (Vertical): Measures vertical movement.</a:t>
            </a:r>
          </a:p>
          <a:p>
            <a:pPr lvl="1"/>
            <a:r>
              <a:rPr lang="en-US" dirty="0" err="1"/>
              <a:t>AccML</a:t>
            </a:r>
            <a:r>
              <a:rPr lang="en-US" dirty="0"/>
              <a:t> (Medial-Lateral): Measures side-to-side movement.</a:t>
            </a:r>
          </a:p>
          <a:p>
            <a:pPr lvl="1"/>
            <a:r>
              <a:rPr lang="en-US" dirty="0" err="1"/>
              <a:t>AccAP</a:t>
            </a:r>
            <a:r>
              <a:rPr lang="en-US" dirty="0"/>
              <a:t> (Anterior-Posterior): Measures forward and backward movement.</a:t>
            </a:r>
          </a:p>
          <a:p>
            <a:r>
              <a:rPr lang="en-US" dirty="0"/>
              <a:t>Target Variables:</a:t>
            </a:r>
          </a:p>
          <a:p>
            <a:pPr lvl="1"/>
            <a:r>
              <a:rPr lang="en-US" dirty="0"/>
              <a:t>Start Hesitation: Indicates if the patient hesitated while starting to walk.</a:t>
            </a:r>
          </a:p>
          <a:p>
            <a:pPr lvl="1"/>
            <a:r>
              <a:rPr lang="en-US" dirty="0"/>
              <a:t>Turn: Captures if the patient underwent a FOG episode while making a turn.</a:t>
            </a:r>
          </a:p>
          <a:p>
            <a:pPr lvl="1"/>
            <a:r>
              <a:rPr lang="en-US" dirty="0"/>
              <a:t>Walking: Whether a FOG episode occurred while walking.</a:t>
            </a:r>
            <a:endParaRPr lang="en-IN" dirty="0"/>
          </a:p>
        </p:txBody>
      </p:sp>
    </p:spTree>
    <p:extLst>
      <p:ext uri="{BB962C8B-B14F-4D97-AF65-F5344CB8AC3E}">
        <p14:creationId xmlns:p14="http://schemas.microsoft.com/office/powerpoint/2010/main" val="1076922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7C34-E007-C893-58F5-70ADF56DAD34}"/>
              </a:ext>
            </a:extLst>
          </p:cNvPr>
          <p:cNvSpPr>
            <a:spLocks noGrp="1"/>
          </p:cNvSpPr>
          <p:nvPr>
            <p:ph type="title"/>
          </p:nvPr>
        </p:nvSpPr>
        <p:spPr>
          <a:xfrm>
            <a:off x="1141413" y="618518"/>
            <a:ext cx="9905998" cy="1478570"/>
          </a:xfrm>
        </p:spPr>
        <p:txBody>
          <a:bodyPr>
            <a:normAutofit/>
          </a:bodyPr>
          <a:lstStyle/>
          <a:p>
            <a:r>
              <a:rPr lang="en-US" dirty="0"/>
              <a:t>Dataset contd..</a:t>
            </a:r>
            <a:endParaRPr lang="en-IN" dirty="0"/>
          </a:p>
        </p:txBody>
      </p:sp>
      <p:pic>
        <p:nvPicPr>
          <p:cNvPr id="7" name="Picture 6">
            <a:extLst>
              <a:ext uri="{FF2B5EF4-FFF2-40B4-BE49-F238E27FC236}">
                <a16:creationId xmlns:a16="http://schemas.microsoft.com/office/drawing/2014/main" id="{1ECDD503-9B5F-BAAE-88C3-521386EB0455}"/>
              </a:ext>
            </a:extLst>
          </p:cNvPr>
          <p:cNvPicPr>
            <a:picLocks noChangeAspect="1"/>
          </p:cNvPicPr>
          <p:nvPr/>
        </p:nvPicPr>
        <p:blipFill>
          <a:blip r:embed="rId4"/>
          <a:stretch>
            <a:fillRect/>
          </a:stretch>
        </p:blipFill>
        <p:spPr>
          <a:xfrm>
            <a:off x="1141411" y="2619613"/>
            <a:ext cx="3494597" cy="952277"/>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5" name="Picture 4">
            <a:extLst>
              <a:ext uri="{FF2B5EF4-FFF2-40B4-BE49-F238E27FC236}">
                <a16:creationId xmlns:a16="http://schemas.microsoft.com/office/drawing/2014/main" id="{1183E3C5-5A51-483B-BD98-6021695AB2E9}"/>
              </a:ext>
            </a:extLst>
          </p:cNvPr>
          <p:cNvPicPr>
            <a:picLocks noChangeAspect="1"/>
          </p:cNvPicPr>
          <p:nvPr/>
        </p:nvPicPr>
        <p:blipFill>
          <a:blip r:embed="rId5"/>
          <a:stretch>
            <a:fillRect/>
          </a:stretch>
        </p:blipFill>
        <p:spPr>
          <a:xfrm>
            <a:off x="1141410" y="4537888"/>
            <a:ext cx="3494597" cy="829966"/>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3" name="Content Placeholder 2">
            <a:extLst>
              <a:ext uri="{FF2B5EF4-FFF2-40B4-BE49-F238E27FC236}">
                <a16:creationId xmlns:a16="http://schemas.microsoft.com/office/drawing/2014/main" id="{42BEE136-9DFA-882B-8488-142B469DF19C}"/>
              </a:ext>
            </a:extLst>
          </p:cNvPr>
          <p:cNvSpPr>
            <a:spLocks noGrp="1"/>
          </p:cNvSpPr>
          <p:nvPr>
            <p:ph idx="1"/>
          </p:nvPr>
        </p:nvSpPr>
        <p:spPr>
          <a:xfrm>
            <a:off x="5034579" y="2249487"/>
            <a:ext cx="6012832" cy="3541714"/>
          </a:xfrm>
        </p:spPr>
        <p:txBody>
          <a:bodyPr>
            <a:normAutofit fontScale="85000" lnSpcReduction="10000"/>
          </a:bodyPr>
          <a:lstStyle/>
          <a:p>
            <a:r>
              <a:rPr lang="en-US" dirty="0"/>
              <a:t>Furthermore, the defog dataset had 2 other attributes called VALID and TASK</a:t>
            </a:r>
            <a:r>
              <a:rPr lang="en-IN" dirty="0"/>
              <a:t> to indicate whether the event occurred under observation or not.</a:t>
            </a:r>
          </a:p>
          <a:p>
            <a:r>
              <a:rPr lang="en-US" dirty="0"/>
              <a:t>The TDCS dataset was created when the patient was under 24/7 observation</a:t>
            </a:r>
          </a:p>
          <a:p>
            <a:r>
              <a:rPr lang="en-US" dirty="0"/>
              <a:t>Time: An integer timestep. Series from the </a:t>
            </a:r>
            <a:r>
              <a:rPr lang="en-US" dirty="0" err="1"/>
              <a:t>tdcsfog</a:t>
            </a:r>
            <a:r>
              <a:rPr lang="en-US" dirty="0"/>
              <a:t> dataset are recorded at 128Hz (128 timesteps per second), while series from the defog and daily series are recorded at 100Hz (100 timesteps per second).</a:t>
            </a:r>
          </a:p>
          <a:p>
            <a:pPr marL="0" indent="0">
              <a:buNone/>
            </a:pPr>
            <a:endParaRPr lang="en-US" dirty="0"/>
          </a:p>
        </p:txBody>
      </p:sp>
      <p:sp>
        <p:nvSpPr>
          <p:cNvPr id="4" name="TextBox 3">
            <a:extLst>
              <a:ext uri="{FF2B5EF4-FFF2-40B4-BE49-F238E27FC236}">
                <a16:creationId xmlns:a16="http://schemas.microsoft.com/office/drawing/2014/main" id="{3BF0F327-3E14-0A4D-9CA3-8544F47F22A7}"/>
              </a:ext>
            </a:extLst>
          </p:cNvPr>
          <p:cNvSpPr txBox="1"/>
          <p:nvPr/>
        </p:nvSpPr>
        <p:spPr>
          <a:xfrm>
            <a:off x="1402808" y="3757939"/>
            <a:ext cx="2971800" cy="369332"/>
          </a:xfrm>
          <a:prstGeom prst="rect">
            <a:avLst/>
          </a:prstGeom>
          <a:noFill/>
        </p:spPr>
        <p:txBody>
          <a:bodyPr wrap="square" rtlCol="0">
            <a:spAutoFit/>
          </a:bodyPr>
          <a:lstStyle/>
          <a:p>
            <a:r>
              <a:rPr lang="en-US" dirty="0"/>
              <a:t>TDCS DATASET</a:t>
            </a:r>
            <a:endParaRPr lang="en-IN" dirty="0"/>
          </a:p>
        </p:txBody>
      </p:sp>
      <p:sp>
        <p:nvSpPr>
          <p:cNvPr id="8" name="TextBox 7">
            <a:extLst>
              <a:ext uri="{FF2B5EF4-FFF2-40B4-BE49-F238E27FC236}">
                <a16:creationId xmlns:a16="http://schemas.microsoft.com/office/drawing/2014/main" id="{4FCC8E27-7F51-73EE-FBA1-9F86D9E060A2}"/>
              </a:ext>
            </a:extLst>
          </p:cNvPr>
          <p:cNvSpPr txBox="1"/>
          <p:nvPr/>
        </p:nvSpPr>
        <p:spPr>
          <a:xfrm>
            <a:off x="1469102" y="5421869"/>
            <a:ext cx="3051810" cy="369332"/>
          </a:xfrm>
          <a:prstGeom prst="rect">
            <a:avLst/>
          </a:prstGeom>
          <a:noFill/>
        </p:spPr>
        <p:txBody>
          <a:bodyPr wrap="square">
            <a:spAutoFit/>
          </a:bodyPr>
          <a:lstStyle/>
          <a:p>
            <a:r>
              <a:rPr lang="en-US" dirty="0"/>
              <a:t>DEFOG DATASET</a:t>
            </a:r>
            <a:endParaRPr lang="en-IN" dirty="0"/>
          </a:p>
        </p:txBody>
      </p:sp>
    </p:spTree>
    <p:extLst>
      <p:ext uri="{BB962C8B-B14F-4D97-AF65-F5344CB8AC3E}">
        <p14:creationId xmlns:p14="http://schemas.microsoft.com/office/powerpoint/2010/main" val="67590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08" name="Group 107">
            <a:extLst>
              <a:ext uri="{FF2B5EF4-FFF2-40B4-BE49-F238E27FC236}">
                <a16:creationId xmlns:a16="http://schemas.microsoft.com/office/drawing/2014/main" id="{4CB5CC6F-11C1-4C07-87C0-F043993E89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9" name="Rectangle 108">
              <a:extLst>
                <a:ext uri="{FF2B5EF4-FFF2-40B4-BE49-F238E27FC236}">
                  <a16:creationId xmlns:a16="http://schemas.microsoft.com/office/drawing/2014/main" id="{FADA3C27-4EC6-4DCA-BB85-C75BAAE82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 name="Picture 2">
              <a:extLst>
                <a:ext uri="{FF2B5EF4-FFF2-40B4-BE49-F238E27FC236}">
                  <a16:creationId xmlns:a16="http://schemas.microsoft.com/office/drawing/2014/main" id="{2D8216BF-F79F-406D-A3B4-46744068AC43}"/>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grpSp>
        <p:nvGrpSpPr>
          <p:cNvPr id="112" name="Group 111">
            <a:extLst>
              <a:ext uri="{FF2B5EF4-FFF2-40B4-BE49-F238E27FC236}">
                <a16:creationId xmlns:a16="http://schemas.microsoft.com/office/drawing/2014/main" id="{C6C16BE5-8A9A-432D-8A61-230FA03816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13" name="Rectangle 5">
              <a:extLst>
                <a:ext uri="{FF2B5EF4-FFF2-40B4-BE49-F238E27FC236}">
                  <a16:creationId xmlns:a16="http://schemas.microsoft.com/office/drawing/2014/main" id="{2E852AB2-2672-41DF-9CF6-FCDEF1805EF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4" name="Freeform 6">
              <a:extLst>
                <a:ext uri="{FF2B5EF4-FFF2-40B4-BE49-F238E27FC236}">
                  <a16:creationId xmlns:a16="http://schemas.microsoft.com/office/drawing/2014/main" id="{90283F1A-A49E-441D-BDF5-35B8BEE426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5" name="Freeform 7">
              <a:extLst>
                <a:ext uri="{FF2B5EF4-FFF2-40B4-BE49-F238E27FC236}">
                  <a16:creationId xmlns:a16="http://schemas.microsoft.com/office/drawing/2014/main" id="{B0BC41A4-F3F1-4CD4-B266-D9DAA21710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6" name="Rectangle 8">
              <a:extLst>
                <a:ext uri="{FF2B5EF4-FFF2-40B4-BE49-F238E27FC236}">
                  <a16:creationId xmlns:a16="http://schemas.microsoft.com/office/drawing/2014/main" id="{6E29DA39-130F-41A1-A21E-4FB453948A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7" name="Freeform 9">
              <a:extLst>
                <a:ext uri="{FF2B5EF4-FFF2-40B4-BE49-F238E27FC236}">
                  <a16:creationId xmlns:a16="http://schemas.microsoft.com/office/drawing/2014/main" id="{39995AD4-F8DE-4CEB-B958-1DBF7EAC29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8" name="Freeform 10">
              <a:extLst>
                <a:ext uri="{FF2B5EF4-FFF2-40B4-BE49-F238E27FC236}">
                  <a16:creationId xmlns:a16="http://schemas.microsoft.com/office/drawing/2014/main" id="{D1F7DCE1-6887-4FE0-A7D7-3652030CF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9" name="Freeform 11">
              <a:extLst>
                <a:ext uri="{FF2B5EF4-FFF2-40B4-BE49-F238E27FC236}">
                  <a16:creationId xmlns:a16="http://schemas.microsoft.com/office/drawing/2014/main" id="{4E46B0E1-9543-441D-AD1D-1308AF88C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0" name="Freeform 12">
              <a:extLst>
                <a:ext uri="{FF2B5EF4-FFF2-40B4-BE49-F238E27FC236}">
                  <a16:creationId xmlns:a16="http://schemas.microsoft.com/office/drawing/2014/main" id="{E8C112C9-8D48-4612-AE0B-CF59EC743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1" name="Freeform 13">
              <a:extLst>
                <a:ext uri="{FF2B5EF4-FFF2-40B4-BE49-F238E27FC236}">
                  <a16:creationId xmlns:a16="http://schemas.microsoft.com/office/drawing/2014/main" id="{2D16C38C-4A3B-4060-9A3B-C47DD6DE7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2" name="Freeform 14">
              <a:extLst>
                <a:ext uri="{FF2B5EF4-FFF2-40B4-BE49-F238E27FC236}">
                  <a16:creationId xmlns:a16="http://schemas.microsoft.com/office/drawing/2014/main" id="{0A9B4CAA-8439-44B3-B738-2123169FA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3" name="Freeform 15">
              <a:extLst>
                <a:ext uri="{FF2B5EF4-FFF2-40B4-BE49-F238E27FC236}">
                  <a16:creationId xmlns:a16="http://schemas.microsoft.com/office/drawing/2014/main" id="{8C6EF933-69B7-48C8-9337-4E0DEF6E75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4" name="Freeform 16">
              <a:extLst>
                <a:ext uri="{FF2B5EF4-FFF2-40B4-BE49-F238E27FC236}">
                  <a16:creationId xmlns:a16="http://schemas.microsoft.com/office/drawing/2014/main" id="{B428AEFA-3C03-48AA-AEA5-8E3F58904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5" name="Freeform 17">
              <a:extLst>
                <a:ext uri="{FF2B5EF4-FFF2-40B4-BE49-F238E27FC236}">
                  <a16:creationId xmlns:a16="http://schemas.microsoft.com/office/drawing/2014/main" id="{041D2508-FE53-47C0-887F-38BD1FB73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6" name="Freeform 18">
              <a:extLst>
                <a:ext uri="{FF2B5EF4-FFF2-40B4-BE49-F238E27FC236}">
                  <a16:creationId xmlns:a16="http://schemas.microsoft.com/office/drawing/2014/main" id="{2C0392BD-D896-4A41-B18B-1389FE1F00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7" name="Freeform 19">
              <a:extLst>
                <a:ext uri="{FF2B5EF4-FFF2-40B4-BE49-F238E27FC236}">
                  <a16:creationId xmlns:a16="http://schemas.microsoft.com/office/drawing/2014/main" id="{B3272EA3-C600-441C-BFC9-ACFF90CD4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8" name="Freeform 20">
              <a:extLst>
                <a:ext uri="{FF2B5EF4-FFF2-40B4-BE49-F238E27FC236}">
                  <a16:creationId xmlns:a16="http://schemas.microsoft.com/office/drawing/2014/main" id="{D8731AA3-BC2D-408B-9D72-C804B8B9ED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9" name="Freeform 21">
              <a:extLst>
                <a:ext uri="{FF2B5EF4-FFF2-40B4-BE49-F238E27FC236}">
                  <a16:creationId xmlns:a16="http://schemas.microsoft.com/office/drawing/2014/main" id="{BE934A31-790A-459C-A997-670583ADC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0" name="Freeform 22">
              <a:extLst>
                <a:ext uri="{FF2B5EF4-FFF2-40B4-BE49-F238E27FC236}">
                  <a16:creationId xmlns:a16="http://schemas.microsoft.com/office/drawing/2014/main" id="{241F679B-BBF0-49DA-A9F3-D623BA7523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1" name="Freeform 23">
              <a:extLst>
                <a:ext uri="{FF2B5EF4-FFF2-40B4-BE49-F238E27FC236}">
                  <a16:creationId xmlns:a16="http://schemas.microsoft.com/office/drawing/2014/main" id="{0BDC4BE0-E1FF-48B5-A064-70F561454E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2" name="Freeform 24">
              <a:extLst>
                <a:ext uri="{FF2B5EF4-FFF2-40B4-BE49-F238E27FC236}">
                  <a16:creationId xmlns:a16="http://schemas.microsoft.com/office/drawing/2014/main" id="{245FC7BA-96DB-41CB-B43A-8EEE482C31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3" name="Freeform 25">
              <a:extLst>
                <a:ext uri="{FF2B5EF4-FFF2-40B4-BE49-F238E27FC236}">
                  <a16:creationId xmlns:a16="http://schemas.microsoft.com/office/drawing/2014/main" id="{3BBD03A9-646B-40EE-9A27-15297EC936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4" name="Freeform 26">
              <a:extLst>
                <a:ext uri="{FF2B5EF4-FFF2-40B4-BE49-F238E27FC236}">
                  <a16:creationId xmlns:a16="http://schemas.microsoft.com/office/drawing/2014/main" id="{4D738FC2-47B4-4BC9-B109-05C56DC00D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5" name="Freeform 27">
              <a:extLst>
                <a:ext uri="{FF2B5EF4-FFF2-40B4-BE49-F238E27FC236}">
                  <a16:creationId xmlns:a16="http://schemas.microsoft.com/office/drawing/2014/main" id="{148BE0A7-2537-452C-BA13-B78D302CB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6" name="Freeform 28">
              <a:extLst>
                <a:ext uri="{FF2B5EF4-FFF2-40B4-BE49-F238E27FC236}">
                  <a16:creationId xmlns:a16="http://schemas.microsoft.com/office/drawing/2014/main" id="{CF6A9D45-D849-4BF5-BBA0-D7BE29B884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7" name="Freeform 29">
              <a:extLst>
                <a:ext uri="{FF2B5EF4-FFF2-40B4-BE49-F238E27FC236}">
                  <a16:creationId xmlns:a16="http://schemas.microsoft.com/office/drawing/2014/main" id="{13F44E41-B5E8-472D-80F2-4539AD3D4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8" name="Freeform 30">
              <a:extLst>
                <a:ext uri="{FF2B5EF4-FFF2-40B4-BE49-F238E27FC236}">
                  <a16:creationId xmlns:a16="http://schemas.microsoft.com/office/drawing/2014/main" id="{CE052494-AAF2-4C3C-A072-317B7F9873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9" name="Freeform 31">
              <a:extLst>
                <a:ext uri="{FF2B5EF4-FFF2-40B4-BE49-F238E27FC236}">
                  <a16:creationId xmlns:a16="http://schemas.microsoft.com/office/drawing/2014/main" id="{90345C3D-13FE-4815-9563-58A52B457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0" name="Freeform 32">
              <a:extLst>
                <a:ext uri="{FF2B5EF4-FFF2-40B4-BE49-F238E27FC236}">
                  <a16:creationId xmlns:a16="http://schemas.microsoft.com/office/drawing/2014/main" id="{37908D29-2BB3-4D6C-92DB-864F630573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1" name="Rectangle 33">
              <a:extLst>
                <a:ext uri="{FF2B5EF4-FFF2-40B4-BE49-F238E27FC236}">
                  <a16:creationId xmlns:a16="http://schemas.microsoft.com/office/drawing/2014/main" id="{174B5792-73C4-4FBF-BAD9-F9A5BBC591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42" name="Freeform 34">
              <a:extLst>
                <a:ext uri="{FF2B5EF4-FFF2-40B4-BE49-F238E27FC236}">
                  <a16:creationId xmlns:a16="http://schemas.microsoft.com/office/drawing/2014/main" id="{D4741BB8-0638-4A06-85A7-69FE81BC44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3" name="Freeform 35">
              <a:extLst>
                <a:ext uri="{FF2B5EF4-FFF2-40B4-BE49-F238E27FC236}">
                  <a16:creationId xmlns:a16="http://schemas.microsoft.com/office/drawing/2014/main" id="{FBDB982D-6E9A-426E-86B1-69031E104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4" name="Freeform 36">
              <a:extLst>
                <a:ext uri="{FF2B5EF4-FFF2-40B4-BE49-F238E27FC236}">
                  <a16:creationId xmlns:a16="http://schemas.microsoft.com/office/drawing/2014/main" id="{400B8260-9575-48DB-9175-B1C8530241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5" name="Freeform 37">
              <a:extLst>
                <a:ext uri="{FF2B5EF4-FFF2-40B4-BE49-F238E27FC236}">
                  <a16:creationId xmlns:a16="http://schemas.microsoft.com/office/drawing/2014/main" id="{52FB1DD3-BAEC-4974-89F5-36B6959459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6" name="Freeform 38">
              <a:extLst>
                <a:ext uri="{FF2B5EF4-FFF2-40B4-BE49-F238E27FC236}">
                  <a16:creationId xmlns:a16="http://schemas.microsoft.com/office/drawing/2014/main" id="{E51161AB-FDC1-4703-9C29-C410366B9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7" name="Freeform 39">
              <a:extLst>
                <a:ext uri="{FF2B5EF4-FFF2-40B4-BE49-F238E27FC236}">
                  <a16:creationId xmlns:a16="http://schemas.microsoft.com/office/drawing/2014/main" id="{DE6123AD-33B5-429C-B8F7-DB1A8FDAB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8" name="Freeform 40">
              <a:extLst>
                <a:ext uri="{FF2B5EF4-FFF2-40B4-BE49-F238E27FC236}">
                  <a16:creationId xmlns:a16="http://schemas.microsoft.com/office/drawing/2014/main" id="{8C454A1D-B20A-4994-8C14-EE5DD3B993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9" name="Freeform 41">
              <a:extLst>
                <a:ext uri="{FF2B5EF4-FFF2-40B4-BE49-F238E27FC236}">
                  <a16:creationId xmlns:a16="http://schemas.microsoft.com/office/drawing/2014/main" id="{CFA7BB74-790B-45D7-B94B-DD4D83ED8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0" name="Freeform 42">
              <a:extLst>
                <a:ext uri="{FF2B5EF4-FFF2-40B4-BE49-F238E27FC236}">
                  <a16:creationId xmlns:a16="http://schemas.microsoft.com/office/drawing/2014/main" id="{19BBC3FC-0052-4BDB-8D6A-421E07EE26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1" name="Freeform 43">
              <a:extLst>
                <a:ext uri="{FF2B5EF4-FFF2-40B4-BE49-F238E27FC236}">
                  <a16:creationId xmlns:a16="http://schemas.microsoft.com/office/drawing/2014/main" id="{42A3E4B3-707A-4D0A-BEED-61A77E96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2" name="Freeform 44">
              <a:extLst>
                <a:ext uri="{FF2B5EF4-FFF2-40B4-BE49-F238E27FC236}">
                  <a16:creationId xmlns:a16="http://schemas.microsoft.com/office/drawing/2014/main" id="{089BBE83-D985-45E9-B442-1326F6FBA5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3" name="Rectangle 45">
              <a:extLst>
                <a:ext uri="{FF2B5EF4-FFF2-40B4-BE49-F238E27FC236}">
                  <a16:creationId xmlns:a16="http://schemas.microsoft.com/office/drawing/2014/main" id="{FE1B194F-F703-4020-92ED-DBDB5C2344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54" name="Freeform 46">
              <a:extLst>
                <a:ext uri="{FF2B5EF4-FFF2-40B4-BE49-F238E27FC236}">
                  <a16:creationId xmlns:a16="http://schemas.microsoft.com/office/drawing/2014/main" id="{D7A22662-B7AF-4857-AD78-716690A268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5" name="Freeform 47">
              <a:extLst>
                <a:ext uri="{FF2B5EF4-FFF2-40B4-BE49-F238E27FC236}">
                  <a16:creationId xmlns:a16="http://schemas.microsoft.com/office/drawing/2014/main" id="{62C16BE5-0C4B-48FC-ABA4-36A8F2DFE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6" name="Freeform 48">
              <a:extLst>
                <a:ext uri="{FF2B5EF4-FFF2-40B4-BE49-F238E27FC236}">
                  <a16:creationId xmlns:a16="http://schemas.microsoft.com/office/drawing/2014/main" id="{C2327DB7-B7F2-4829-909E-A03D62252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7" name="Freeform 49">
              <a:extLst>
                <a:ext uri="{FF2B5EF4-FFF2-40B4-BE49-F238E27FC236}">
                  <a16:creationId xmlns:a16="http://schemas.microsoft.com/office/drawing/2014/main" id="{167918EB-9EB1-413F-8C39-F018CCDCCD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8" name="Freeform 50">
              <a:extLst>
                <a:ext uri="{FF2B5EF4-FFF2-40B4-BE49-F238E27FC236}">
                  <a16:creationId xmlns:a16="http://schemas.microsoft.com/office/drawing/2014/main" id="{B971E245-631A-4364-A177-C1D1B6B4D3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9" name="Freeform 51">
              <a:extLst>
                <a:ext uri="{FF2B5EF4-FFF2-40B4-BE49-F238E27FC236}">
                  <a16:creationId xmlns:a16="http://schemas.microsoft.com/office/drawing/2014/main" id="{1D4C1872-66E3-45EB-BDE7-26C02A176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0" name="Freeform 52">
              <a:extLst>
                <a:ext uri="{FF2B5EF4-FFF2-40B4-BE49-F238E27FC236}">
                  <a16:creationId xmlns:a16="http://schemas.microsoft.com/office/drawing/2014/main" id="{D2BC0771-493C-4FEF-958F-859C53924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1" name="Freeform 53">
              <a:extLst>
                <a:ext uri="{FF2B5EF4-FFF2-40B4-BE49-F238E27FC236}">
                  <a16:creationId xmlns:a16="http://schemas.microsoft.com/office/drawing/2014/main" id="{E339169B-1EE1-4E4F-BA0C-BD3AD57FD7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2" name="Freeform 54">
              <a:extLst>
                <a:ext uri="{FF2B5EF4-FFF2-40B4-BE49-F238E27FC236}">
                  <a16:creationId xmlns:a16="http://schemas.microsoft.com/office/drawing/2014/main" id="{BBC80538-8C59-46A3-B187-66C9A6D3F2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3" name="Freeform 55">
              <a:extLst>
                <a:ext uri="{FF2B5EF4-FFF2-40B4-BE49-F238E27FC236}">
                  <a16:creationId xmlns:a16="http://schemas.microsoft.com/office/drawing/2014/main" id="{C5F9090C-11D8-4272-815D-11B1911DA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4" name="Freeform 56">
              <a:extLst>
                <a:ext uri="{FF2B5EF4-FFF2-40B4-BE49-F238E27FC236}">
                  <a16:creationId xmlns:a16="http://schemas.microsoft.com/office/drawing/2014/main" id="{A361F786-6FA9-4EAD-81EF-BF4734D466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5" name="Freeform 57">
              <a:extLst>
                <a:ext uri="{FF2B5EF4-FFF2-40B4-BE49-F238E27FC236}">
                  <a16:creationId xmlns:a16="http://schemas.microsoft.com/office/drawing/2014/main" id="{63B2A436-CEC8-477C-ACDD-6E5D2ABBC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6" name="Freeform 58">
              <a:extLst>
                <a:ext uri="{FF2B5EF4-FFF2-40B4-BE49-F238E27FC236}">
                  <a16:creationId xmlns:a16="http://schemas.microsoft.com/office/drawing/2014/main" id="{7FAE92CD-EBFF-4DB4-9F5D-00D33E902E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E1CF7AF6-7AA7-0096-3078-788A2DBBAC4B}"/>
              </a:ext>
            </a:extLst>
          </p:cNvPr>
          <p:cNvSpPr>
            <a:spLocks noGrp="1"/>
          </p:cNvSpPr>
          <p:nvPr>
            <p:ph type="title"/>
          </p:nvPr>
        </p:nvSpPr>
        <p:spPr>
          <a:xfrm>
            <a:off x="5491209" y="618518"/>
            <a:ext cx="5877676" cy="1478570"/>
          </a:xfrm>
        </p:spPr>
        <p:txBody>
          <a:bodyPr>
            <a:normAutofit fontScale="90000"/>
          </a:bodyPr>
          <a:lstStyle/>
          <a:p>
            <a:r>
              <a:rPr lang="en-US" dirty="0"/>
              <a:t>Data cleaning and exploration(Defog dataset)</a:t>
            </a:r>
            <a:endParaRPr lang="en-IN" dirty="0"/>
          </a:p>
        </p:txBody>
      </p:sp>
      <p:pic>
        <p:nvPicPr>
          <p:cNvPr id="6" name="Picture 5">
            <a:extLst>
              <a:ext uri="{FF2B5EF4-FFF2-40B4-BE49-F238E27FC236}">
                <a16:creationId xmlns:a16="http://schemas.microsoft.com/office/drawing/2014/main" id="{080CA795-CD5D-37F3-0BF7-A10AB62F4EC8}"/>
              </a:ext>
            </a:extLst>
          </p:cNvPr>
          <p:cNvPicPr>
            <a:picLocks noChangeAspect="1"/>
          </p:cNvPicPr>
          <p:nvPr/>
        </p:nvPicPr>
        <p:blipFill>
          <a:blip r:embed="rId4"/>
          <a:srcRect t="4709" b="3158"/>
          <a:stretch/>
        </p:blipFill>
        <p:spPr>
          <a:xfrm>
            <a:off x="-5597" y="1"/>
            <a:ext cx="4635583" cy="3427413"/>
          </a:xfrm>
          <a:custGeom>
            <a:avLst/>
            <a:gdLst/>
            <a:ahLst/>
            <a:cxnLst/>
            <a:rect l="l" t="t" r="r" b="b"/>
            <a:pathLst>
              <a:path w="4635583" h="3427413">
                <a:moveTo>
                  <a:pt x="0" y="0"/>
                </a:moveTo>
                <a:lnTo>
                  <a:pt x="4635583" y="0"/>
                </a:lnTo>
                <a:lnTo>
                  <a:pt x="4635583" y="3427413"/>
                </a:lnTo>
                <a:lnTo>
                  <a:pt x="0" y="3427413"/>
                </a:lnTo>
                <a:close/>
              </a:path>
            </a:pathLst>
          </a:custGeom>
        </p:spPr>
      </p:pic>
      <p:pic>
        <p:nvPicPr>
          <p:cNvPr id="100" name="Picture 99">
            <a:extLst>
              <a:ext uri="{FF2B5EF4-FFF2-40B4-BE49-F238E27FC236}">
                <a16:creationId xmlns:a16="http://schemas.microsoft.com/office/drawing/2014/main" id="{35C9B07B-71E2-7D2A-120D-373A07FDF452}"/>
              </a:ext>
            </a:extLst>
          </p:cNvPr>
          <p:cNvPicPr>
            <a:picLocks noChangeAspect="1"/>
          </p:cNvPicPr>
          <p:nvPr/>
        </p:nvPicPr>
        <p:blipFill>
          <a:blip r:embed="rId5"/>
          <a:srcRect t="5082" b="10822"/>
          <a:stretch/>
        </p:blipFill>
        <p:spPr>
          <a:xfrm>
            <a:off x="-5597" y="3427414"/>
            <a:ext cx="4635583" cy="3430587"/>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68" name="Straight Connector 167">
            <a:extLst>
              <a:ext uri="{FF2B5EF4-FFF2-40B4-BE49-F238E27FC236}">
                <a16:creationId xmlns:a16="http://schemas.microsoft.com/office/drawing/2014/main" id="{E104AA93-67FD-43AC-92F9-5840A89E43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170" name="Straight Connector 169">
            <a:extLst>
              <a:ext uri="{FF2B5EF4-FFF2-40B4-BE49-F238E27FC236}">
                <a16:creationId xmlns:a16="http://schemas.microsoft.com/office/drawing/2014/main" id="{95AE1CAD-A877-4C0B-91F7-CA9C684C94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97" y="3427414"/>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Content Placeholder 2">
            <a:extLst>
              <a:ext uri="{FF2B5EF4-FFF2-40B4-BE49-F238E27FC236}">
                <a16:creationId xmlns:a16="http://schemas.microsoft.com/office/drawing/2014/main" id="{264B649F-8499-E5F6-F09E-29A42744D529}"/>
              </a:ext>
            </a:extLst>
          </p:cNvPr>
          <p:cNvSpPr>
            <a:spLocks noGrp="1"/>
          </p:cNvSpPr>
          <p:nvPr>
            <p:ph idx="1"/>
          </p:nvPr>
        </p:nvSpPr>
        <p:spPr>
          <a:xfrm>
            <a:off x="5491209" y="2249487"/>
            <a:ext cx="5877677" cy="3541714"/>
          </a:xfrm>
        </p:spPr>
        <p:txBody>
          <a:bodyPr>
            <a:normAutofit/>
          </a:bodyPr>
          <a:lstStyle/>
          <a:p>
            <a:r>
              <a:rPr lang="en-US" dirty="0"/>
              <a:t>Filtered the defog dataset to only have rows where valid and task were labelled as 1.</a:t>
            </a:r>
          </a:p>
          <a:p>
            <a:r>
              <a:rPr lang="en-IN" dirty="0"/>
              <a:t>Events where start hesitation was 1 were very less compared to turn or walking.</a:t>
            </a:r>
          </a:p>
          <a:p>
            <a:r>
              <a:rPr lang="en-IN" dirty="0"/>
              <a:t>We had a highly unbalanced dataset.</a:t>
            </a:r>
          </a:p>
        </p:txBody>
      </p:sp>
    </p:spTree>
    <p:extLst>
      <p:ext uri="{BB962C8B-B14F-4D97-AF65-F5344CB8AC3E}">
        <p14:creationId xmlns:p14="http://schemas.microsoft.com/office/powerpoint/2010/main" val="3676479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3DC727CE-5AD5-B327-3476-06581FB130AF}"/>
            </a:ext>
          </a:extLst>
        </p:cNvPr>
        <p:cNvGrpSpPr/>
        <p:nvPr/>
      </p:nvGrpSpPr>
      <p:grpSpPr>
        <a:xfrm>
          <a:off x="0" y="0"/>
          <a:ext cx="0" cy="0"/>
          <a:chOff x="0" y="0"/>
          <a:chExt cx="0" cy="0"/>
        </a:xfrm>
      </p:grpSpPr>
      <p:grpSp>
        <p:nvGrpSpPr>
          <p:cNvPr id="108" name="Group 107">
            <a:extLst>
              <a:ext uri="{FF2B5EF4-FFF2-40B4-BE49-F238E27FC236}">
                <a16:creationId xmlns:a16="http://schemas.microsoft.com/office/drawing/2014/main" id="{4CB5CC6F-11C1-4C07-87C0-F043993E89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9" name="Rectangle 108">
              <a:extLst>
                <a:ext uri="{FF2B5EF4-FFF2-40B4-BE49-F238E27FC236}">
                  <a16:creationId xmlns:a16="http://schemas.microsoft.com/office/drawing/2014/main" id="{FADA3C27-4EC6-4DCA-BB85-C75BAAE82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 name="Picture 2">
              <a:extLst>
                <a:ext uri="{FF2B5EF4-FFF2-40B4-BE49-F238E27FC236}">
                  <a16:creationId xmlns:a16="http://schemas.microsoft.com/office/drawing/2014/main" id="{2D8216BF-F79F-406D-A3B4-46744068AC43}"/>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grpSp>
        <p:nvGrpSpPr>
          <p:cNvPr id="112" name="Group 111">
            <a:extLst>
              <a:ext uri="{FF2B5EF4-FFF2-40B4-BE49-F238E27FC236}">
                <a16:creationId xmlns:a16="http://schemas.microsoft.com/office/drawing/2014/main" id="{C6C16BE5-8A9A-432D-8A61-230FA03816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13" name="Rectangle 5">
              <a:extLst>
                <a:ext uri="{FF2B5EF4-FFF2-40B4-BE49-F238E27FC236}">
                  <a16:creationId xmlns:a16="http://schemas.microsoft.com/office/drawing/2014/main" id="{2E852AB2-2672-41DF-9CF6-FCDEF1805EF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4" name="Freeform 6">
              <a:extLst>
                <a:ext uri="{FF2B5EF4-FFF2-40B4-BE49-F238E27FC236}">
                  <a16:creationId xmlns:a16="http://schemas.microsoft.com/office/drawing/2014/main" id="{90283F1A-A49E-441D-BDF5-35B8BEE426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5" name="Freeform 7">
              <a:extLst>
                <a:ext uri="{FF2B5EF4-FFF2-40B4-BE49-F238E27FC236}">
                  <a16:creationId xmlns:a16="http://schemas.microsoft.com/office/drawing/2014/main" id="{B0BC41A4-F3F1-4CD4-B266-D9DAA21710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6" name="Rectangle 8">
              <a:extLst>
                <a:ext uri="{FF2B5EF4-FFF2-40B4-BE49-F238E27FC236}">
                  <a16:creationId xmlns:a16="http://schemas.microsoft.com/office/drawing/2014/main" id="{6E29DA39-130F-41A1-A21E-4FB453948A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7" name="Freeform 9">
              <a:extLst>
                <a:ext uri="{FF2B5EF4-FFF2-40B4-BE49-F238E27FC236}">
                  <a16:creationId xmlns:a16="http://schemas.microsoft.com/office/drawing/2014/main" id="{39995AD4-F8DE-4CEB-B958-1DBF7EAC29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8" name="Freeform 10">
              <a:extLst>
                <a:ext uri="{FF2B5EF4-FFF2-40B4-BE49-F238E27FC236}">
                  <a16:creationId xmlns:a16="http://schemas.microsoft.com/office/drawing/2014/main" id="{D1F7DCE1-6887-4FE0-A7D7-3652030CF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9" name="Freeform 11">
              <a:extLst>
                <a:ext uri="{FF2B5EF4-FFF2-40B4-BE49-F238E27FC236}">
                  <a16:creationId xmlns:a16="http://schemas.microsoft.com/office/drawing/2014/main" id="{4E46B0E1-9543-441D-AD1D-1308AF88C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0" name="Freeform 12">
              <a:extLst>
                <a:ext uri="{FF2B5EF4-FFF2-40B4-BE49-F238E27FC236}">
                  <a16:creationId xmlns:a16="http://schemas.microsoft.com/office/drawing/2014/main" id="{E8C112C9-8D48-4612-AE0B-CF59EC743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1" name="Freeform 13">
              <a:extLst>
                <a:ext uri="{FF2B5EF4-FFF2-40B4-BE49-F238E27FC236}">
                  <a16:creationId xmlns:a16="http://schemas.microsoft.com/office/drawing/2014/main" id="{2D16C38C-4A3B-4060-9A3B-C47DD6DE7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2" name="Freeform 14">
              <a:extLst>
                <a:ext uri="{FF2B5EF4-FFF2-40B4-BE49-F238E27FC236}">
                  <a16:creationId xmlns:a16="http://schemas.microsoft.com/office/drawing/2014/main" id="{0A9B4CAA-8439-44B3-B738-2123169FA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3" name="Freeform 15">
              <a:extLst>
                <a:ext uri="{FF2B5EF4-FFF2-40B4-BE49-F238E27FC236}">
                  <a16:creationId xmlns:a16="http://schemas.microsoft.com/office/drawing/2014/main" id="{8C6EF933-69B7-48C8-9337-4E0DEF6E75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4" name="Freeform 16">
              <a:extLst>
                <a:ext uri="{FF2B5EF4-FFF2-40B4-BE49-F238E27FC236}">
                  <a16:creationId xmlns:a16="http://schemas.microsoft.com/office/drawing/2014/main" id="{B428AEFA-3C03-48AA-AEA5-8E3F58904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5" name="Freeform 17">
              <a:extLst>
                <a:ext uri="{FF2B5EF4-FFF2-40B4-BE49-F238E27FC236}">
                  <a16:creationId xmlns:a16="http://schemas.microsoft.com/office/drawing/2014/main" id="{041D2508-FE53-47C0-887F-38BD1FB73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6" name="Freeform 18">
              <a:extLst>
                <a:ext uri="{FF2B5EF4-FFF2-40B4-BE49-F238E27FC236}">
                  <a16:creationId xmlns:a16="http://schemas.microsoft.com/office/drawing/2014/main" id="{2C0392BD-D896-4A41-B18B-1389FE1F00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7" name="Freeform 19">
              <a:extLst>
                <a:ext uri="{FF2B5EF4-FFF2-40B4-BE49-F238E27FC236}">
                  <a16:creationId xmlns:a16="http://schemas.microsoft.com/office/drawing/2014/main" id="{B3272EA3-C600-441C-BFC9-ACFF90CD4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8" name="Freeform 20">
              <a:extLst>
                <a:ext uri="{FF2B5EF4-FFF2-40B4-BE49-F238E27FC236}">
                  <a16:creationId xmlns:a16="http://schemas.microsoft.com/office/drawing/2014/main" id="{D8731AA3-BC2D-408B-9D72-C804B8B9ED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9" name="Freeform 21">
              <a:extLst>
                <a:ext uri="{FF2B5EF4-FFF2-40B4-BE49-F238E27FC236}">
                  <a16:creationId xmlns:a16="http://schemas.microsoft.com/office/drawing/2014/main" id="{BE934A31-790A-459C-A997-670583ADC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0" name="Freeform 22">
              <a:extLst>
                <a:ext uri="{FF2B5EF4-FFF2-40B4-BE49-F238E27FC236}">
                  <a16:creationId xmlns:a16="http://schemas.microsoft.com/office/drawing/2014/main" id="{241F679B-BBF0-49DA-A9F3-D623BA7523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1" name="Freeform 23">
              <a:extLst>
                <a:ext uri="{FF2B5EF4-FFF2-40B4-BE49-F238E27FC236}">
                  <a16:creationId xmlns:a16="http://schemas.microsoft.com/office/drawing/2014/main" id="{0BDC4BE0-E1FF-48B5-A064-70F561454E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2" name="Freeform 24">
              <a:extLst>
                <a:ext uri="{FF2B5EF4-FFF2-40B4-BE49-F238E27FC236}">
                  <a16:creationId xmlns:a16="http://schemas.microsoft.com/office/drawing/2014/main" id="{245FC7BA-96DB-41CB-B43A-8EEE482C31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3" name="Freeform 25">
              <a:extLst>
                <a:ext uri="{FF2B5EF4-FFF2-40B4-BE49-F238E27FC236}">
                  <a16:creationId xmlns:a16="http://schemas.microsoft.com/office/drawing/2014/main" id="{3BBD03A9-646B-40EE-9A27-15297EC936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4" name="Freeform 26">
              <a:extLst>
                <a:ext uri="{FF2B5EF4-FFF2-40B4-BE49-F238E27FC236}">
                  <a16:creationId xmlns:a16="http://schemas.microsoft.com/office/drawing/2014/main" id="{4D738FC2-47B4-4BC9-B109-05C56DC00D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5" name="Freeform 27">
              <a:extLst>
                <a:ext uri="{FF2B5EF4-FFF2-40B4-BE49-F238E27FC236}">
                  <a16:creationId xmlns:a16="http://schemas.microsoft.com/office/drawing/2014/main" id="{148BE0A7-2537-452C-BA13-B78D302CB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6" name="Freeform 28">
              <a:extLst>
                <a:ext uri="{FF2B5EF4-FFF2-40B4-BE49-F238E27FC236}">
                  <a16:creationId xmlns:a16="http://schemas.microsoft.com/office/drawing/2014/main" id="{CF6A9D45-D849-4BF5-BBA0-D7BE29B884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7" name="Freeform 29">
              <a:extLst>
                <a:ext uri="{FF2B5EF4-FFF2-40B4-BE49-F238E27FC236}">
                  <a16:creationId xmlns:a16="http://schemas.microsoft.com/office/drawing/2014/main" id="{13F44E41-B5E8-472D-80F2-4539AD3D4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8" name="Freeform 30">
              <a:extLst>
                <a:ext uri="{FF2B5EF4-FFF2-40B4-BE49-F238E27FC236}">
                  <a16:creationId xmlns:a16="http://schemas.microsoft.com/office/drawing/2014/main" id="{CE052494-AAF2-4C3C-A072-317B7F9873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9" name="Freeform 31">
              <a:extLst>
                <a:ext uri="{FF2B5EF4-FFF2-40B4-BE49-F238E27FC236}">
                  <a16:creationId xmlns:a16="http://schemas.microsoft.com/office/drawing/2014/main" id="{90345C3D-13FE-4815-9563-58A52B457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0" name="Freeform 32">
              <a:extLst>
                <a:ext uri="{FF2B5EF4-FFF2-40B4-BE49-F238E27FC236}">
                  <a16:creationId xmlns:a16="http://schemas.microsoft.com/office/drawing/2014/main" id="{37908D29-2BB3-4D6C-92DB-864F630573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1" name="Rectangle 33">
              <a:extLst>
                <a:ext uri="{FF2B5EF4-FFF2-40B4-BE49-F238E27FC236}">
                  <a16:creationId xmlns:a16="http://schemas.microsoft.com/office/drawing/2014/main" id="{174B5792-73C4-4FBF-BAD9-F9A5BBC591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42" name="Freeform 34">
              <a:extLst>
                <a:ext uri="{FF2B5EF4-FFF2-40B4-BE49-F238E27FC236}">
                  <a16:creationId xmlns:a16="http://schemas.microsoft.com/office/drawing/2014/main" id="{D4741BB8-0638-4A06-85A7-69FE81BC44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3" name="Freeform 35">
              <a:extLst>
                <a:ext uri="{FF2B5EF4-FFF2-40B4-BE49-F238E27FC236}">
                  <a16:creationId xmlns:a16="http://schemas.microsoft.com/office/drawing/2014/main" id="{FBDB982D-6E9A-426E-86B1-69031E104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4" name="Freeform 36">
              <a:extLst>
                <a:ext uri="{FF2B5EF4-FFF2-40B4-BE49-F238E27FC236}">
                  <a16:creationId xmlns:a16="http://schemas.microsoft.com/office/drawing/2014/main" id="{400B8260-9575-48DB-9175-B1C8530241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5" name="Freeform 37">
              <a:extLst>
                <a:ext uri="{FF2B5EF4-FFF2-40B4-BE49-F238E27FC236}">
                  <a16:creationId xmlns:a16="http://schemas.microsoft.com/office/drawing/2014/main" id="{52FB1DD3-BAEC-4974-89F5-36B6959459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6" name="Freeform 38">
              <a:extLst>
                <a:ext uri="{FF2B5EF4-FFF2-40B4-BE49-F238E27FC236}">
                  <a16:creationId xmlns:a16="http://schemas.microsoft.com/office/drawing/2014/main" id="{E51161AB-FDC1-4703-9C29-C410366B9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7" name="Freeform 39">
              <a:extLst>
                <a:ext uri="{FF2B5EF4-FFF2-40B4-BE49-F238E27FC236}">
                  <a16:creationId xmlns:a16="http://schemas.microsoft.com/office/drawing/2014/main" id="{DE6123AD-33B5-429C-B8F7-DB1A8FDAB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8" name="Freeform 40">
              <a:extLst>
                <a:ext uri="{FF2B5EF4-FFF2-40B4-BE49-F238E27FC236}">
                  <a16:creationId xmlns:a16="http://schemas.microsoft.com/office/drawing/2014/main" id="{8C454A1D-B20A-4994-8C14-EE5DD3B993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9" name="Freeform 41">
              <a:extLst>
                <a:ext uri="{FF2B5EF4-FFF2-40B4-BE49-F238E27FC236}">
                  <a16:creationId xmlns:a16="http://schemas.microsoft.com/office/drawing/2014/main" id="{CFA7BB74-790B-45D7-B94B-DD4D83ED8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0" name="Freeform 42">
              <a:extLst>
                <a:ext uri="{FF2B5EF4-FFF2-40B4-BE49-F238E27FC236}">
                  <a16:creationId xmlns:a16="http://schemas.microsoft.com/office/drawing/2014/main" id="{19BBC3FC-0052-4BDB-8D6A-421E07EE26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1" name="Freeform 43">
              <a:extLst>
                <a:ext uri="{FF2B5EF4-FFF2-40B4-BE49-F238E27FC236}">
                  <a16:creationId xmlns:a16="http://schemas.microsoft.com/office/drawing/2014/main" id="{42A3E4B3-707A-4D0A-BEED-61A77E96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2" name="Freeform 44">
              <a:extLst>
                <a:ext uri="{FF2B5EF4-FFF2-40B4-BE49-F238E27FC236}">
                  <a16:creationId xmlns:a16="http://schemas.microsoft.com/office/drawing/2014/main" id="{089BBE83-D985-45E9-B442-1326F6FBA5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3" name="Rectangle 45">
              <a:extLst>
                <a:ext uri="{FF2B5EF4-FFF2-40B4-BE49-F238E27FC236}">
                  <a16:creationId xmlns:a16="http://schemas.microsoft.com/office/drawing/2014/main" id="{FE1B194F-F703-4020-92ED-DBDB5C2344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54" name="Freeform 46">
              <a:extLst>
                <a:ext uri="{FF2B5EF4-FFF2-40B4-BE49-F238E27FC236}">
                  <a16:creationId xmlns:a16="http://schemas.microsoft.com/office/drawing/2014/main" id="{D7A22662-B7AF-4857-AD78-716690A268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5" name="Freeform 47">
              <a:extLst>
                <a:ext uri="{FF2B5EF4-FFF2-40B4-BE49-F238E27FC236}">
                  <a16:creationId xmlns:a16="http://schemas.microsoft.com/office/drawing/2014/main" id="{62C16BE5-0C4B-48FC-ABA4-36A8F2DFE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6" name="Freeform 48">
              <a:extLst>
                <a:ext uri="{FF2B5EF4-FFF2-40B4-BE49-F238E27FC236}">
                  <a16:creationId xmlns:a16="http://schemas.microsoft.com/office/drawing/2014/main" id="{C2327DB7-B7F2-4829-909E-A03D62252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7" name="Freeform 49">
              <a:extLst>
                <a:ext uri="{FF2B5EF4-FFF2-40B4-BE49-F238E27FC236}">
                  <a16:creationId xmlns:a16="http://schemas.microsoft.com/office/drawing/2014/main" id="{167918EB-9EB1-413F-8C39-F018CCDCCD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8" name="Freeform 50">
              <a:extLst>
                <a:ext uri="{FF2B5EF4-FFF2-40B4-BE49-F238E27FC236}">
                  <a16:creationId xmlns:a16="http://schemas.microsoft.com/office/drawing/2014/main" id="{B971E245-631A-4364-A177-C1D1B6B4D3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9" name="Freeform 51">
              <a:extLst>
                <a:ext uri="{FF2B5EF4-FFF2-40B4-BE49-F238E27FC236}">
                  <a16:creationId xmlns:a16="http://schemas.microsoft.com/office/drawing/2014/main" id="{1D4C1872-66E3-45EB-BDE7-26C02A176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0" name="Freeform 52">
              <a:extLst>
                <a:ext uri="{FF2B5EF4-FFF2-40B4-BE49-F238E27FC236}">
                  <a16:creationId xmlns:a16="http://schemas.microsoft.com/office/drawing/2014/main" id="{D2BC0771-493C-4FEF-958F-859C53924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1" name="Freeform 53">
              <a:extLst>
                <a:ext uri="{FF2B5EF4-FFF2-40B4-BE49-F238E27FC236}">
                  <a16:creationId xmlns:a16="http://schemas.microsoft.com/office/drawing/2014/main" id="{E339169B-1EE1-4E4F-BA0C-BD3AD57FD7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2" name="Freeform 54">
              <a:extLst>
                <a:ext uri="{FF2B5EF4-FFF2-40B4-BE49-F238E27FC236}">
                  <a16:creationId xmlns:a16="http://schemas.microsoft.com/office/drawing/2014/main" id="{BBC80538-8C59-46A3-B187-66C9A6D3F2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3" name="Freeform 55">
              <a:extLst>
                <a:ext uri="{FF2B5EF4-FFF2-40B4-BE49-F238E27FC236}">
                  <a16:creationId xmlns:a16="http://schemas.microsoft.com/office/drawing/2014/main" id="{C5F9090C-11D8-4272-815D-11B1911DA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4" name="Freeform 56">
              <a:extLst>
                <a:ext uri="{FF2B5EF4-FFF2-40B4-BE49-F238E27FC236}">
                  <a16:creationId xmlns:a16="http://schemas.microsoft.com/office/drawing/2014/main" id="{A361F786-6FA9-4EAD-81EF-BF4734D466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5" name="Freeform 57">
              <a:extLst>
                <a:ext uri="{FF2B5EF4-FFF2-40B4-BE49-F238E27FC236}">
                  <a16:creationId xmlns:a16="http://schemas.microsoft.com/office/drawing/2014/main" id="{63B2A436-CEC8-477C-ACDD-6E5D2ABBC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6" name="Freeform 58">
              <a:extLst>
                <a:ext uri="{FF2B5EF4-FFF2-40B4-BE49-F238E27FC236}">
                  <a16:creationId xmlns:a16="http://schemas.microsoft.com/office/drawing/2014/main" id="{7FAE92CD-EBFF-4DB4-9F5D-00D33E902E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5714AF3C-A833-558D-879F-70986ECB0081}"/>
              </a:ext>
            </a:extLst>
          </p:cNvPr>
          <p:cNvSpPr>
            <a:spLocks noGrp="1"/>
          </p:cNvSpPr>
          <p:nvPr>
            <p:ph type="title"/>
          </p:nvPr>
        </p:nvSpPr>
        <p:spPr>
          <a:xfrm>
            <a:off x="5491209" y="618518"/>
            <a:ext cx="5877676" cy="1478570"/>
          </a:xfrm>
        </p:spPr>
        <p:txBody>
          <a:bodyPr>
            <a:normAutofit/>
          </a:bodyPr>
          <a:lstStyle/>
          <a:p>
            <a:r>
              <a:rPr lang="en-US" dirty="0"/>
              <a:t>Data cleaning and exploration(TDCS dataset)</a:t>
            </a:r>
            <a:endParaRPr lang="en-IN" dirty="0"/>
          </a:p>
        </p:txBody>
      </p:sp>
      <p:pic>
        <p:nvPicPr>
          <p:cNvPr id="5" name="Picture 4" descr="A screenshot of a graph&#10;&#10;Description automatically generated">
            <a:extLst>
              <a:ext uri="{FF2B5EF4-FFF2-40B4-BE49-F238E27FC236}">
                <a16:creationId xmlns:a16="http://schemas.microsoft.com/office/drawing/2014/main" id="{F7877ECB-D423-78E8-08BA-ACCA122D5039}"/>
              </a:ext>
            </a:extLst>
          </p:cNvPr>
          <p:cNvPicPr>
            <a:picLocks noChangeAspect="1"/>
          </p:cNvPicPr>
          <p:nvPr/>
        </p:nvPicPr>
        <p:blipFill>
          <a:blip r:embed="rId4"/>
          <a:srcRect t="4781" b="2798"/>
          <a:stretch/>
        </p:blipFill>
        <p:spPr>
          <a:xfrm>
            <a:off x="-5597" y="1"/>
            <a:ext cx="4635583" cy="3427413"/>
          </a:xfrm>
          <a:custGeom>
            <a:avLst/>
            <a:gdLst/>
            <a:ahLst/>
            <a:cxnLst/>
            <a:rect l="l" t="t" r="r" b="b"/>
            <a:pathLst>
              <a:path w="4635583" h="3427413">
                <a:moveTo>
                  <a:pt x="0" y="0"/>
                </a:moveTo>
                <a:lnTo>
                  <a:pt x="4635583" y="0"/>
                </a:lnTo>
                <a:lnTo>
                  <a:pt x="4635583" y="3427413"/>
                </a:lnTo>
                <a:lnTo>
                  <a:pt x="0" y="3427413"/>
                </a:lnTo>
                <a:close/>
              </a:path>
            </a:pathLst>
          </a:custGeom>
        </p:spPr>
      </p:pic>
      <p:pic>
        <p:nvPicPr>
          <p:cNvPr id="6" name="Picture 5">
            <a:extLst>
              <a:ext uri="{FF2B5EF4-FFF2-40B4-BE49-F238E27FC236}">
                <a16:creationId xmlns:a16="http://schemas.microsoft.com/office/drawing/2014/main" id="{742138A0-0B18-07B0-616A-9AA430A5EB0A}"/>
              </a:ext>
            </a:extLst>
          </p:cNvPr>
          <p:cNvPicPr>
            <a:picLocks noChangeAspect="1"/>
          </p:cNvPicPr>
          <p:nvPr/>
        </p:nvPicPr>
        <p:blipFill>
          <a:blip r:embed="rId5"/>
          <a:srcRect t="9790" b="10420"/>
          <a:stretch/>
        </p:blipFill>
        <p:spPr>
          <a:xfrm>
            <a:off x="-5597" y="3427414"/>
            <a:ext cx="4635583" cy="3430587"/>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168" name="Straight Connector 167">
            <a:extLst>
              <a:ext uri="{FF2B5EF4-FFF2-40B4-BE49-F238E27FC236}">
                <a16:creationId xmlns:a16="http://schemas.microsoft.com/office/drawing/2014/main" id="{E104AA93-67FD-43AC-92F9-5840A89E43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170" name="Straight Connector 169">
            <a:extLst>
              <a:ext uri="{FF2B5EF4-FFF2-40B4-BE49-F238E27FC236}">
                <a16:creationId xmlns:a16="http://schemas.microsoft.com/office/drawing/2014/main" id="{95AE1CAD-A877-4C0B-91F7-CA9C684C94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97" y="3427414"/>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Content Placeholder 2">
            <a:extLst>
              <a:ext uri="{FF2B5EF4-FFF2-40B4-BE49-F238E27FC236}">
                <a16:creationId xmlns:a16="http://schemas.microsoft.com/office/drawing/2014/main" id="{1DF4874C-B818-DAFB-3F22-8E50C0C2C695}"/>
              </a:ext>
            </a:extLst>
          </p:cNvPr>
          <p:cNvSpPr>
            <a:spLocks noGrp="1"/>
          </p:cNvSpPr>
          <p:nvPr>
            <p:ph idx="1"/>
          </p:nvPr>
        </p:nvSpPr>
        <p:spPr>
          <a:xfrm>
            <a:off x="5491209" y="2249487"/>
            <a:ext cx="5877677" cy="3541714"/>
          </a:xfrm>
        </p:spPr>
        <p:txBody>
          <a:bodyPr>
            <a:normAutofit/>
          </a:bodyPr>
          <a:lstStyle/>
          <a:p>
            <a:r>
              <a:rPr lang="en-IN" dirty="0"/>
              <a:t>Events where start hesitation was 1 were very less compared to turn or walking.</a:t>
            </a:r>
          </a:p>
          <a:p>
            <a:r>
              <a:rPr lang="en-IN" dirty="0"/>
              <a:t>We had a highly unbalanced dataset similar to the defog dataset.</a:t>
            </a:r>
          </a:p>
        </p:txBody>
      </p:sp>
    </p:spTree>
    <p:extLst>
      <p:ext uri="{BB962C8B-B14F-4D97-AF65-F5344CB8AC3E}">
        <p14:creationId xmlns:p14="http://schemas.microsoft.com/office/powerpoint/2010/main" val="184708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7447E0-1577-42FE-94F2-0841807FBF09}"/>
              </a:ext>
            </a:extLst>
          </p:cNvPr>
          <p:cNvSpPr>
            <a:spLocks noGrp="1"/>
          </p:cNvSpPr>
          <p:nvPr>
            <p:ph type="title"/>
          </p:nvPr>
        </p:nvSpPr>
        <p:spPr>
          <a:xfrm>
            <a:off x="1141413" y="618518"/>
            <a:ext cx="9905998" cy="1478570"/>
          </a:xfrm>
        </p:spPr>
        <p:txBody>
          <a:bodyPr>
            <a:normAutofit/>
          </a:bodyPr>
          <a:lstStyle/>
          <a:p>
            <a:r>
              <a:rPr lang="en-IN" dirty="0"/>
              <a:t>Initial Objective</a:t>
            </a:r>
          </a:p>
        </p:txBody>
      </p:sp>
      <p:graphicFrame>
        <p:nvGraphicFramePr>
          <p:cNvPr id="5" name="Content Placeholder 2">
            <a:extLst>
              <a:ext uri="{FF2B5EF4-FFF2-40B4-BE49-F238E27FC236}">
                <a16:creationId xmlns:a16="http://schemas.microsoft.com/office/drawing/2014/main" id="{957A44B2-6185-552E-9F5B-EA61A28049B0}"/>
              </a:ext>
            </a:extLst>
          </p:cNvPr>
          <p:cNvGraphicFramePr>
            <a:graphicFrameLocks noGrp="1"/>
          </p:cNvGraphicFramePr>
          <p:nvPr>
            <p:ph idx="1"/>
            <p:extLst>
              <p:ext uri="{D42A27DB-BD31-4B8C-83A1-F6EECF244321}">
                <p14:modId xmlns:p14="http://schemas.microsoft.com/office/powerpoint/2010/main" val="4033869341"/>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1351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795E-536F-0D99-60A2-0CB35F9D40FC}"/>
              </a:ext>
            </a:extLst>
          </p:cNvPr>
          <p:cNvSpPr>
            <a:spLocks noGrp="1"/>
          </p:cNvSpPr>
          <p:nvPr>
            <p:ph type="title"/>
          </p:nvPr>
        </p:nvSpPr>
        <p:spPr/>
        <p:txBody>
          <a:bodyPr/>
          <a:lstStyle/>
          <a:p>
            <a:r>
              <a:rPr lang="en-IN" dirty="0"/>
              <a:t>Shift in Approach</a:t>
            </a:r>
          </a:p>
        </p:txBody>
      </p:sp>
      <p:sp>
        <p:nvSpPr>
          <p:cNvPr id="3" name="Content Placeholder 2">
            <a:extLst>
              <a:ext uri="{FF2B5EF4-FFF2-40B4-BE49-F238E27FC236}">
                <a16:creationId xmlns:a16="http://schemas.microsoft.com/office/drawing/2014/main" id="{2B2557CB-55C8-67BE-75D0-32EE93D8F286}"/>
              </a:ext>
            </a:extLst>
          </p:cNvPr>
          <p:cNvSpPr>
            <a:spLocks noGrp="1"/>
          </p:cNvSpPr>
          <p:nvPr>
            <p:ph idx="1"/>
          </p:nvPr>
        </p:nvSpPr>
        <p:spPr/>
        <p:txBody>
          <a:bodyPr>
            <a:normAutofit/>
          </a:bodyPr>
          <a:lstStyle/>
          <a:p>
            <a:r>
              <a:rPr lang="en-IN" dirty="0"/>
              <a:t>After LSTM’s Low Performance:</a:t>
            </a:r>
          </a:p>
          <a:p>
            <a:pPr lvl="1"/>
            <a:r>
              <a:rPr lang="en-IN" dirty="0"/>
              <a:t>Decided to explore MLP (Multi-Layer Perceptron) as an alternative.</a:t>
            </a:r>
          </a:p>
          <a:p>
            <a:pPr lvl="1"/>
            <a:r>
              <a:rPr lang="en-IN" dirty="0"/>
              <a:t>MLP performed better, despite lacking time-series capabilities.</a:t>
            </a:r>
          </a:p>
          <a:p>
            <a:pPr lvl="1"/>
            <a:r>
              <a:rPr lang="en-IN" dirty="0"/>
              <a:t>Leveraged feature engineering for better model input.</a:t>
            </a:r>
          </a:p>
        </p:txBody>
      </p:sp>
    </p:spTree>
    <p:extLst>
      <p:ext uri="{BB962C8B-B14F-4D97-AF65-F5344CB8AC3E}">
        <p14:creationId xmlns:p14="http://schemas.microsoft.com/office/powerpoint/2010/main" val="282807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D34A4-45D5-1C8D-32F9-E5C0383514B3}"/>
              </a:ext>
            </a:extLst>
          </p:cNvPr>
          <p:cNvSpPr>
            <a:spLocks noGrp="1"/>
          </p:cNvSpPr>
          <p:nvPr>
            <p:ph type="title"/>
          </p:nvPr>
        </p:nvSpPr>
        <p:spPr/>
        <p:txBody>
          <a:bodyPr/>
          <a:lstStyle/>
          <a:p>
            <a:r>
              <a:rPr lang="en-US" dirty="0"/>
              <a:t>Feature engineering</a:t>
            </a:r>
            <a:endParaRPr lang="en-IN" dirty="0"/>
          </a:p>
        </p:txBody>
      </p:sp>
      <p:sp>
        <p:nvSpPr>
          <p:cNvPr id="3" name="Content Placeholder 2">
            <a:extLst>
              <a:ext uri="{FF2B5EF4-FFF2-40B4-BE49-F238E27FC236}">
                <a16:creationId xmlns:a16="http://schemas.microsoft.com/office/drawing/2014/main" id="{6C31DBD2-6139-0752-BD4B-F81DC0356CF1}"/>
              </a:ext>
            </a:extLst>
          </p:cNvPr>
          <p:cNvSpPr>
            <a:spLocks noGrp="1"/>
          </p:cNvSpPr>
          <p:nvPr>
            <p:ph idx="1"/>
          </p:nvPr>
        </p:nvSpPr>
        <p:spPr/>
        <p:txBody>
          <a:bodyPr/>
          <a:lstStyle/>
          <a:p>
            <a:r>
              <a:rPr lang="en-US" dirty="0"/>
              <a:t>Temporal Features:</a:t>
            </a:r>
          </a:p>
          <a:p>
            <a:pPr lvl="1"/>
            <a:r>
              <a:rPr lang="en-US" dirty="0"/>
              <a:t>Sine/Cosine Transformations: Capture periodic patterns.</a:t>
            </a:r>
          </a:p>
          <a:p>
            <a:r>
              <a:rPr lang="en-US" dirty="0"/>
              <a:t>Rolling Statistics:</a:t>
            </a:r>
          </a:p>
          <a:p>
            <a:pPr lvl="1"/>
            <a:r>
              <a:rPr lang="en-US" dirty="0"/>
              <a:t>Mean &amp; Std: Smooth data and measure movement variability.</a:t>
            </a:r>
          </a:p>
          <a:p>
            <a:r>
              <a:rPr lang="en-US" dirty="0"/>
              <a:t>Feature Interactions: Combine accelerometer axes for new insights.</a:t>
            </a:r>
          </a:p>
          <a:p>
            <a:r>
              <a:rPr lang="en-US" dirty="0"/>
              <a:t>Normalization: Scale features for better model training.</a:t>
            </a:r>
            <a:endParaRPr lang="en-IN" dirty="0"/>
          </a:p>
        </p:txBody>
      </p:sp>
    </p:spTree>
    <p:extLst>
      <p:ext uri="{BB962C8B-B14F-4D97-AF65-F5344CB8AC3E}">
        <p14:creationId xmlns:p14="http://schemas.microsoft.com/office/powerpoint/2010/main" val="3516853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B5B8A-E8A2-C365-12D2-3D8FC9815DE6}"/>
              </a:ext>
            </a:extLst>
          </p:cNvPr>
          <p:cNvSpPr>
            <a:spLocks noGrp="1"/>
          </p:cNvSpPr>
          <p:nvPr>
            <p:ph type="title"/>
          </p:nvPr>
        </p:nvSpPr>
        <p:spPr/>
        <p:txBody>
          <a:bodyPr/>
          <a:lstStyle/>
          <a:p>
            <a:r>
              <a:rPr lang="en-IN" dirty="0"/>
              <a:t>Challenges Faced</a:t>
            </a:r>
          </a:p>
        </p:txBody>
      </p:sp>
      <p:sp>
        <p:nvSpPr>
          <p:cNvPr id="3" name="Content Placeholder 2">
            <a:extLst>
              <a:ext uri="{FF2B5EF4-FFF2-40B4-BE49-F238E27FC236}">
                <a16:creationId xmlns:a16="http://schemas.microsoft.com/office/drawing/2014/main" id="{21BE4859-E44D-5711-8587-66034301D5D3}"/>
              </a:ext>
            </a:extLst>
          </p:cNvPr>
          <p:cNvSpPr>
            <a:spLocks noGrp="1"/>
          </p:cNvSpPr>
          <p:nvPr>
            <p:ph idx="1"/>
          </p:nvPr>
        </p:nvSpPr>
        <p:spPr/>
        <p:txBody>
          <a:bodyPr/>
          <a:lstStyle/>
          <a:p>
            <a:r>
              <a:rPr lang="en-US" dirty="0"/>
              <a:t>Large data volumes and handling missing values.</a:t>
            </a:r>
          </a:p>
          <a:p>
            <a:r>
              <a:rPr lang="en-US" dirty="0"/>
              <a:t>Low Performance of LSTM: Expected high performance from LSTM but needed to change approach.</a:t>
            </a:r>
          </a:p>
          <a:p>
            <a:r>
              <a:rPr lang="en-US" dirty="0"/>
              <a:t>Class Imbalance: Some movement classes were underrepresented, impacting model accuracy</a:t>
            </a:r>
            <a:endParaRPr lang="en-IN" dirty="0"/>
          </a:p>
        </p:txBody>
      </p:sp>
    </p:spTree>
    <p:extLst>
      <p:ext uri="{BB962C8B-B14F-4D97-AF65-F5344CB8AC3E}">
        <p14:creationId xmlns:p14="http://schemas.microsoft.com/office/powerpoint/2010/main" val="1304631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CB5CC6F-11C1-4C07-87C0-F043993E89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4" name="Rectangle 13">
              <a:extLst>
                <a:ext uri="{FF2B5EF4-FFF2-40B4-BE49-F238E27FC236}">
                  <a16:creationId xmlns:a16="http://schemas.microsoft.com/office/drawing/2014/main" id="{FADA3C27-4EC6-4DCA-BB85-C75BAAE82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a:extLst>
                <a:ext uri="{FF2B5EF4-FFF2-40B4-BE49-F238E27FC236}">
                  <a16:creationId xmlns:a16="http://schemas.microsoft.com/office/drawing/2014/main" id="{2D8216BF-F79F-406D-A3B4-46744068AC43}"/>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grpSp>
        <p:nvGrpSpPr>
          <p:cNvPr id="17" name="Group 16">
            <a:extLst>
              <a:ext uri="{FF2B5EF4-FFF2-40B4-BE49-F238E27FC236}">
                <a16:creationId xmlns:a16="http://schemas.microsoft.com/office/drawing/2014/main" id="{C6C16BE5-8A9A-432D-8A61-230FA03816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1779"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8" name="Rectangle 5">
              <a:extLst>
                <a:ext uri="{FF2B5EF4-FFF2-40B4-BE49-F238E27FC236}">
                  <a16:creationId xmlns:a16="http://schemas.microsoft.com/office/drawing/2014/main" id="{2E852AB2-2672-41DF-9CF6-FCDEF1805EF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9" name="Freeform 6">
              <a:extLst>
                <a:ext uri="{FF2B5EF4-FFF2-40B4-BE49-F238E27FC236}">
                  <a16:creationId xmlns:a16="http://schemas.microsoft.com/office/drawing/2014/main" id="{90283F1A-A49E-441D-BDF5-35B8BEE426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7">
              <a:extLst>
                <a:ext uri="{FF2B5EF4-FFF2-40B4-BE49-F238E27FC236}">
                  <a16:creationId xmlns:a16="http://schemas.microsoft.com/office/drawing/2014/main" id="{B0BC41A4-F3F1-4CD4-B266-D9DAA21710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Rectangle 8">
              <a:extLst>
                <a:ext uri="{FF2B5EF4-FFF2-40B4-BE49-F238E27FC236}">
                  <a16:creationId xmlns:a16="http://schemas.microsoft.com/office/drawing/2014/main" id="{6E29DA39-130F-41A1-A21E-4FB453948A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2" name="Freeform 9">
              <a:extLst>
                <a:ext uri="{FF2B5EF4-FFF2-40B4-BE49-F238E27FC236}">
                  <a16:creationId xmlns:a16="http://schemas.microsoft.com/office/drawing/2014/main" id="{39995AD4-F8DE-4CEB-B958-1DBF7EAC29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3" name="Freeform 10">
              <a:extLst>
                <a:ext uri="{FF2B5EF4-FFF2-40B4-BE49-F238E27FC236}">
                  <a16:creationId xmlns:a16="http://schemas.microsoft.com/office/drawing/2014/main" id="{D1F7DCE1-6887-4FE0-A7D7-3652030CF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Freeform 11">
              <a:extLst>
                <a:ext uri="{FF2B5EF4-FFF2-40B4-BE49-F238E27FC236}">
                  <a16:creationId xmlns:a16="http://schemas.microsoft.com/office/drawing/2014/main" id="{4E46B0E1-9543-441D-AD1D-1308AF88C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2">
              <a:extLst>
                <a:ext uri="{FF2B5EF4-FFF2-40B4-BE49-F238E27FC236}">
                  <a16:creationId xmlns:a16="http://schemas.microsoft.com/office/drawing/2014/main" id="{E8C112C9-8D48-4612-AE0B-CF59EC743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13">
              <a:extLst>
                <a:ext uri="{FF2B5EF4-FFF2-40B4-BE49-F238E27FC236}">
                  <a16:creationId xmlns:a16="http://schemas.microsoft.com/office/drawing/2014/main" id="{2D16C38C-4A3B-4060-9A3B-C47DD6DE7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Freeform 14">
              <a:extLst>
                <a:ext uri="{FF2B5EF4-FFF2-40B4-BE49-F238E27FC236}">
                  <a16:creationId xmlns:a16="http://schemas.microsoft.com/office/drawing/2014/main" id="{0A9B4CAA-8439-44B3-B738-2123169FA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8" name="Freeform 15">
              <a:extLst>
                <a:ext uri="{FF2B5EF4-FFF2-40B4-BE49-F238E27FC236}">
                  <a16:creationId xmlns:a16="http://schemas.microsoft.com/office/drawing/2014/main" id="{8C6EF933-69B7-48C8-9337-4E0DEF6E75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16">
              <a:extLst>
                <a:ext uri="{FF2B5EF4-FFF2-40B4-BE49-F238E27FC236}">
                  <a16:creationId xmlns:a16="http://schemas.microsoft.com/office/drawing/2014/main" id="{B428AEFA-3C03-48AA-AEA5-8E3F58904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17">
              <a:extLst>
                <a:ext uri="{FF2B5EF4-FFF2-40B4-BE49-F238E27FC236}">
                  <a16:creationId xmlns:a16="http://schemas.microsoft.com/office/drawing/2014/main" id="{041D2508-FE53-47C0-887F-38BD1FB73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18">
              <a:extLst>
                <a:ext uri="{FF2B5EF4-FFF2-40B4-BE49-F238E27FC236}">
                  <a16:creationId xmlns:a16="http://schemas.microsoft.com/office/drawing/2014/main" id="{2C0392BD-D896-4A41-B18B-1389FE1F00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19">
              <a:extLst>
                <a:ext uri="{FF2B5EF4-FFF2-40B4-BE49-F238E27FC236}">
                  <a16:creationId xmlns:a16="http://schemas.microsoft.com/office/drawing/2014/main" id="{B3272EA3-C600-441C-BFC9-ACFF90CD4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0">
              <a:extLst>
                <a:ext uri="{FF2B5EF4-FFF2-40B4-BE49-F238E27FC236}">
                  <a16:creationId xmlns:a16="http://schemas.microsoft.com/office/drawing/2014/main" id="{D8731AA3-BC2D-408B-9D72-C804B8B9ED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1">
              <a:extLst>
                <a:ext uri="{FF2B5EF4-FFF2-40B4-BE49-F238E27FC236}">
                  <a16:creationId xmlns:a16="http://schemas.microsoft.com/office/drawing/2014/main" id="{BE934A31-790A-459C-A997-670583ADC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2">
              <a:extLst>
                <a:ext uri="{FF2B5EF4-FFF2-40B4-BE49-F238E27FC236}">
                  <a16:creationId xmlns:a16="http://schemas.microsoft.com/office/drawing/2014/main" id="{241F679B-BBF0-49DA-A9F3-D623BA7523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23">
              <a:extLst>
                <a:ext uri="{FF2B5EF4-FFF2-40B4-BE49-F238E27FC236}">
                  <a16:creationId xmlns:a16="http://schemas.microsoft.com/office/drawing/2014/main" id="{0BDC4BE0-E1FF-48B5-A064-70F561454E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24">
              <a:extLst>
                <a:ext uri="{FF2B5EF4-FFF2-40B4-BE49-F238E27FC236}">
                  <a16:creationId xmlns:a16="http://schemas.microsoft.com/office/drawing/2014/main" id="{245FC7BA-96DB-41CB-B43A-8EEE482C31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8" name="Freeform 25">
              <a:extLst>
                <a:ext uri="{FF2B5EF4-FFF2-40B4-BE49-F238E27FC236}">
                  <a16:creationId xmlns:a16="http://schemas.microsoft.com/office/drawing/2014/main" id="{3BBD03A9-646B-40EE-9A27-15297EC936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9" name="Freeform 26">
              <a:extLst>
                <a:ext uri="{FF2B5EF4-FFF2-40B4-BE49-F238E27FC236}">
                  <a16:creationId xmlns:a16="http://schemas.microsoft.com/office/drawing/2014/main" id="{4D738FC2-47B4-4BC9-B109-05C56DC00D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0" name="Freeform 27">
              <a:extLst>
                <a:ext uri="{FF2B5EF4-FFF2-40B4-BE49-F238E27FC236}">
                  <a16:creationId xmlns:a16="http://schemas.microsoft.com/office/drawing/2014/main" id="{148BE0A7-2537-452C-BA13-B78D302CB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1" name="Freeform 28">
              <a:extLst>
                <a:ext uri="{FF2B5EF4-FFF2-40B4-BE49-F238E27FC236}">
                  <a16:creationId xmlns:a16="http://schemas.microsoft.com/office/drawing/2014/main" id="{CF6A9D45-D849-4BF5-BBA0-D7BE29B884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2" name="Freeform 29">
              <a:extLst>
                <a:ext uri="{FF2B5EF4-FFF2-40B4-BE49-F238E27FC236}">
                  <a16:creationId xmlns:a16="http://schemas.microsoft.com/office/drawing/2014/main" id="{13F44E41-B5E8-472D-80F2-4539AD3D4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3" name="Freeform 30">
              <a:extLst>
                <a:ext uri="{FF2B5EF4-FFF2-40B4-BE49-F238E27FC236}">
                  <a16:creationId xmlns:a16="http://schemas.microsoft.com/office/drawing/2014/main" id="{CE052494-AAF2-4C3C-A072-317B7F9873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4" name="Freeform 31">
              <a:extLst>
                <a:ext uri="{FF2B5EF4-FFF2-40B4-BE49-F238E27FC236}">
                  <a16:creationId xmlns:a16="http://schemas.microsoft.com/office/drawing/2014/main" id="{90345C3D-13FE-4815-9563-58A52B457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5" name="Freeform 32">
              <a:extLst>
                <a:ext uri="{FF2B5EF4-FFF2-40B4-BE49-F238E27FC236}">
                  <a16:creationId xmlns:a16="http://schemas.microsoft.com/office/drawing/2014/main" id="{37908D29-2BB3-4D6C-92DB-864F630573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6" name="Rectangle 33">
              <a:extLst>
                <a:ext uri="{FF2B5EF4-FFF2-40B4-BE49-F238E27FC236}">
                  <a16:creationId xmlns:a16="http://schemas.microsoft.com/office/drawing/2014/main" id="{174B5792-73C4-4FBF-BAD9-F9A5BBC591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47" name="Freeform 34">
              <a:extLst>
                <a:ext uri="{FF2B5EF4-FFF2-40B4-BE49-F238E27FC236}">
                  <a16:creationId xmlns:a16="http://schemas.microsoft.com/office/drawing/2014/main" id="{D4741BB8-0638-4A06-85A7-69FE81BC44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8" name="Freeform 35">
              <a:extLst>
                <a:ext uri="{FF2B5EF4-FFF2-40B4-BE49-F238E27FC236}">
                  <a16:creationId xmlns:a16="http://schemas.microsoft.com/office/drawing/2014/main" id="{FBDB982D-6E9A-426E-86B1-69031E104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9" name="Freeform 36">
              <a:extLst>
                <a:ext uri="{FF2B5EF4-FFF2-40B4-BE49-F238E27FC236}">
                  <a16:creationId xmlns:a16="http://schemas.microsoft.com/office/drawing/2014/main" id="{400B8260-9575-48DB-9175-B1C8530241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0" name="Freeform 37">
              <a:extLst>
                <a:ext uri="{FF2B5EF4-FFF2-40B4-BE49-F238E27FC236}">
                  <a16:creationId xmlns:a16="http://schemas.microsoft.com/office/drawing/2014/main" id="{52FB1DD3-BAEC-4974-89F5-36B6959459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1" name="Freeform 38">
              <a:extLst>
                <a:ext uri="{FF2B5EF4-FFF2-40B4-BE49-F238E27FC236}">
                  <a16:creationId xmlns:a16="http://schemas.microsoft.com/office/drawing/2014/main" id="{E51161AB-FDC1-4703-9C29-C410366B9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2" name="Freeform 39">
              <a:extLst>
                <a:ext uri="{FF2B5EF4-FFF2-40B4-BE49-F238E27FC236}">
                  <a16:creationId xmlns:a16="http://schemas.microsoft.com/office/drawing/2014/main" id="{DE6123AD-33B5-429C-B8F7-DB1A8FDAB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3" name="Freeform 40">
              <a:extLst>
                <a:ext uri="{FF2B5EF4-FFF2-40B4-BE49-F238E27FC236}">
                  <a16:creationId xmlns:a16="http://schemas.microsoft.com/office/drawing/2014/main" id="{8C454A1D-B20A-4994-8C14-EE5DD3B993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4" name="Freeform 41">
              <a:extLst>
                <a:ext uri="{FF2B5EF4-FFF2-40B4-BE49-F238E27FC236}">
                  <a16:creationId xmlns:a16="http://schemas.microsoft.com/office/drawing/2014/main" id="{CFA7BB74-790B-45D7-B94B-DD4D83ED8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5" name="Freeform 42">
              <a:extLst>
                <a:ext uri="{FF2B5EF4-FFF2-40B4-BE49-F238E27FC236}">
                  <a16:creationId xmlns:a16="http://schemas.microsoft.com/office/drawing/2014/main" id="{19BBC3FC-0052-4BDB-8D6A-421E07EE26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6" name="Freeform 43">
              <a:extLst>
                <a:ext uri="{FF2B5EF4-FFF2-40B4-BE49-F238E27FC236}">
                  <a16:creationId xmlns:a16="http://schemas.microsoft.com/office/drawing/2014/main" id="{42A3E4B3-707A-4D0A-BEED-61A77E96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7" name="Freeform 44">
              <a:extLst>
                <a:ext uri="{FF2B5EF4-FFF2-40B4-BE49-F238E27FC236}">
                  <a16:creationId xmlns:a16="http://schemas.microsoft.com/office/drawing/2014/main" id="{089BBE83-D985-45E9-B442-1326F6FBA5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8" name="Rectangle 45">
              <a:extLst>
                <a:ext uri="{FF2B5EF4-FFF2-40B4-BE49-F238E27FC236}">
                  <a16:creationId xmlns:a16="http://schemas.microsoft.com/office/drawing/2014/main" id="{FE1B194F-F703-4020-92ED-DBDB5C2344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59" name="Freeform 46">
              <a:extLst>
                <a:ext uri="{FF2B5EF4-FFF2-40B4-BE49-F238E27FC236}">
                  <a16:creationId xmlns:a16="http://schemas.microsoft.com/office/drawing/2014/main" id="{D7A22662-B7AF-4857-AD78-716690A268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0" name="Freeform 47">
              <a:extLst>
                <a:ext uri="{FF2B5EF4-FFF2-40B4-BE49-F238E27FC236}">
                  <a16:creationId xmlns:a16="http://schemas.microsoft.com/office/drawing/2014/main" id="{62C16BE5-0C4B-48FC-ABA4-36A8F2DFE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1" name="Freeform 48">
              <a:extLst>
                <a:ext uri="{FF2B5EF4-FFF2-40B4-BE49-F238E27FC236}">
                  <a16:creationId xmlns:a16="http://schemas.microsoft.com/office/drawing/2014/main" id="{C2327DB7-B7F2-4829-909E-A03D62252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2" name="Freeform 49">
              <a:extLst>
                <a:ext uri="{FF2B5EF4-FFF2-40B4-BE49-F238E27FC236}">
                  <a16:creationId xmlns:a16="http://schemas.microsoft.com/office/drawing/2014/main" id="{167918EB-9EB1-413F-8C39-F018CCDCCD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3" name="Freeform 50">
              <a:extLst>
                <a:ext uri="{FF2B5EF4-FFF2-40B4-BE49-F238E27FC236}">
                  <a16:creationId xmlns:a16="http://schemas.microsoft.com/office/drawing/2014/main" id="{B971E245-631A-4364-A177-C1D1B6B4D3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4" name="Freeform 51">
              <a:extLst>
                <a:ext uri="{FF2B5EF4-FFF2-40B4-BE49-F238E27FC236}">
                  <a16:creationId xmlns:a16="http://schemas.microsoft.com/office/drawing/2014/main" id="{1D4C1872-66E3-45EB-BDE7-26C02A176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5" name="Freeform 52">
              <a:extLst>
                <a:ext uri="{FF2B5EF4-FFF2-40B4-BE49-F238E27FC236}">
                  <a16:creationId xmlns:a16="http://schemas.microsoft.com/office/drawing/2014/main" id="{D2BC0771-493C-4FEF-958F-859C53924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6" name="Freeform 53">
              <a:extLst>
                <a:ext uri="{FF2B5EF4-FFF2-40B4-BE49-F238E27FC236}">
                  <a16:creationId xmlns:a16="http://schemas.microsoft.com/office/drawing/2014/main" id="{E339169B-1EE1-4E4F-BA0C-BD3AD57FD7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7" name="Freeform 54">
              <a:extLst>
                <a:ext uri="{FF2B5EF4-FFF2-40B4-BE49-F238E27FC236}">
                  <a16:creationId xmlns:a16="http://schemas.microsoft.com/office/drawing/2014/main" id="{BBC80538-8C59-46A3-B187-66C9A6D3F2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8" name="Freeform 55">
              <a:extLst>
                <a:ext uri="{FF2B5EF4-FFF2-40B4-BE49-F238E27FC236}">
                  <a16:creationId xmlns:a16="http://schemas.microsoft.com/office/drawing/2014/main" id="{C5F9090C-11D8-4272-815D-11B1911DA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9" name="Freeform 56">
              <a:extLst>
                <a:ext uri="{FF2B5EF4-FFF2-40B4-BE49-F238E27FC236}">
                  <a16:creationId xmlns:a16="http://schemas.microsoft.com/office/drawing/2014/main" id="{A361F786-6FA9-4EAD-81EF-BF4734D466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0" name="Freeform 57">
              <a:extLst>
                <a:ext uri="{FF2B5EF4-FFF2-40B4-BE49-F238E27FC236}">
                  <a16:creationId xmlns:a16="http://schemas.microsoft.com/office/drawing/2014/main" id="{63B2A436-CEC8-477C-ACDD-6E5D2ABBC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1" name="Freeform 58">
              <a:extLst>
                <a:ext uri="{FF2B5EF4-FFF2-40B4-BE49-F238E27FC236}">
                  <a16:creationId xmlns:a16="http://schemas.microsoft.com/office/drawing/2014/main" id="{7FAE92CD-EBFF-4DB4-9F5D-00D33E902E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807F224B-4F30-C9BA-3935-C5932A115845}"/>
              </a:ext>
            </a:extLst>
          </p:cNvPr>
          <p:cNvSpPr>
            <a:spLocks noGrp="1"/>
          </p:cNvSpPr>
          <p:nvPr>
            <p:ph type="title"/>
          </p:nvPr>
        </p:nvSpPr>
        <p:spPr>
          <a:xfrm>
            <a:off x="5491209" y="618518"/>
            <a:ext cx="5877676" cy="1478570"/>
          </a:xfrm>
        </p:spPr>
        <p:txBody>
          <a:bodyPr>
            <a:normAutofit/>
          </a:bodyPr>
          <a:lstStyle/>
          <a:p>
            <a:r>
              <a:rPr lang="en-US" dirty="0"/>
              <a:t>RESULTS</a:t>
            </a:r>
            <a:endParaRPr lang="en-IN" dirty="0"/>
          </a:p>
        </p:txBody>
      </p:sp>
      <p:pic>
        <p:nvPicPr>
          <p:cNvPr id="6" name="Picture 5">
            <a:extLst>
              <a:ext uri="{FF2B5EF4-FFF2-40B4-BE49-F238E27FC236}">
                <a16:creationId xmlns:a16="http://schemas.microsoft.com/office/drawing/2014/main" id="{4C6FFB10-3566-C728-17FE-0288167E7D71}"/>
              </a:ext>
            </a:extLst>
          </p:cNvPr>
          <p:cNvPicPr>
            <a:picLocks noChangeAspect="1"/>
          </p:cNvPicPr>
          <p:nvPr/>
        </p:nvPicPr>
        <p:blipFill>
          <a:blip r:embed="rId4"/>
          <a:srcRect b="7579"/>
          <a:stretch/>
        </p:blipFill>
        <p:spPr>
          <a:xfrm>
            <a:off x="-5397" y="3427413"/>
            <a:ext cx="4635583" cy="3427413"/>
          </a:xfrm>
          <a:custGeom>
            <a:avLst/>
            <a:gdLst/>
            <a:ahLst/>
            <a:cxnLst/>
            <a:rect l="l" t="t" r="r" b="b"/>
            <a:pathLst>
              <a:path w="4635583" h="3427413">
                <a:moveTo>
                  <a:pt x="0" y="0"/>
                </a:moveTo>
                <a:lnTo>
                  <a:pt x="4635583" y="0"/>
                </a:lnTo>
                <a:lnTo>
                  <a:pt x="4635583" y="3427413"/>
                </a:lnTo>
                <a:lnTo>
                  <a:pt x="0" y="3427413"/>
                </a:lnTo>
                <a:close/>
              </a:path>
            </a:pathLst>
          </a:custGeom>
        </p:spPr>
      </p:pic>
      <p:pic>
        <p:nvPicPr>
          <p:cNvPr id="8" name="Picture 7">
            <a:extLst>
              <a:ext uri="{FF2B5EF4-FFF2-40B4-BE49-F238E27FC236}">
                <a16:creationId xmlns:a16="http://schemas.microsoft.com/office/drawing/2014/main" id="{4E224C81-027B-0E06-6AE8-770F560B2515}"/>
              </a:ext>
            </a:extLst>
          </p:cNvPr>
          <p:cNvPicPr>
            <a:picLocks noChangeAspect="1"/>
          </p:cNvPicPr>
          <p:nvPr/>
        </p:nvPicPr>
        <p:blipFill>
          <a:blip r:embed="rId5"/>
          <a:srcRect t="7781"/>
          <a:stretch/>
        </p:blipFill>
        <p:spPr>
          <a:xfrm>
            <a:off x="-5799" y="-7937"/>
            <a:ext cx="4635583" cy="3430587"/>
          </a:xfrm>
          <a:custGeom>
            <a:avLst/>
            <a:gdLst/>
            <a:ahLst/>
            <a:cxnLst/>
            <a:rect l="l" t="t" r="r" b="b"/>
            <a:pathLst>
              <a:path w="4635583" h="3430587">
                <a:moveTo>
                  <a:pt x="0" y="0"/>
                </a:moveTo>
                <a:lnTo>
                  <a:pt x="4635583" y="0"/>
                </a:lnTo>
                <a:lnTo>
                  <a:pt x="4635583" y="3430587"/>
                </a:lnTo>
                <a:lnTo>
                  <a:pt x="0" y="3430587"/>
                </a:lnTo>
                <a:close/>
              </a:path>
            </a:pathLst>
          </a:custGeom>
        </p:spPr>
      </p:pic>
      <p:cxnSp>
        <p:nvCxnSpPr>
          <p:cNvPr id="73" name="Straight Connector 72">
            <a:extLst>
              <a:ext uri="{FF2B5EF4-FFF2-40B4-BE49-F238E27FC236}">
                <a16:creationId xmlns:a16="http://schemas.microsoft.com/office/drawing/2014/main" id="{E104AA93-67FD-43AC-92F9-5840A89E43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2483" y="-464"/>
            <a:ext cx="2646" cy="6858465"/>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cxnSp>
        <p:nvCxnSpPr>
          <p:cNvPr id="75" name="Straight Connector 74">
            <a:extLst>
              <a:ext uri="{FF2B5EF4-FFF2-40B4-BE49-F238E27FC236}">
                <a16:creationId xmlns:a16="http://schemas.microsoft.com/office/drawing/2014/main" id="{95AE1CAD-A877-4C0B-91F7-CA9C684C94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97" y="3427414"/>
            <a:ext cx="4635583" cy="0"/>
          </a:xfrm>
          <a:prstGeom prst="line">
            <a:avLst/>
          </a:prstGeom>
          <a:solidFill>
            <a:schemeClr val="tx2">
              <a:alpha val="60000"/>
            </a:schemeClr>
          </a:solidFill>
          <a:ln w="19050">
            <a:solidFill>
              <a:schemeClr val="tx2">
                <a:alpha val="60000"/>
              </a:schemeClr>
            </a:solidFill>
          </a:ln>
          <a:effectLst>
            <a:outerShdw blurRad="50800" dist="38100" dir="2700000" algn="tl" rotWithShape="0">
              <a:srgbClr val="000000">
                <a:alpha val="58000"/>
              </a:srgbClr>
            </a:outerShdw>
          </a:effectLst>
        </p:spPr>
      </p:cxnSp>
      <p:sp>
        <p:nvSpPr>
          <p:cNvPr id="3" name="Content Placeholder 2">
            <a:extLst>
              <a:ext uri="{FF2B5EF4-FFF2-40B4-BE49-F238E27FC236}">
                <a16:creationId xmlns:a16="http://schemas.microsoft.com/office/drawing/2014/main" id="{F9E03456-70DA-0890-F72D-675268EBA231}"/>
              </a:ext>
            </a:extLst>
          </p:cNvPr>
          <p:cNvSpPr>
            <a:spLocks noGrp="1"/>
          </p:cNvSpPr>
          <p:nvPr>
            <p:ph idx="1"/>
          </p:nvPr>
        </p:nvSpPr>
        <p:spPr>
          <a:xfrm>
            <a:off x="5491209" y="2249487"/>
            <a:ext cx="5877677" cy="3541714"/>
          </a:xfrm>
        </p:spPr>
        <p:txBody>
          <a:bodyPr>
            <a:normAutofit/>
          </a:bodyPr>
          <a:lstStyle/>
          <a:p>
            <a:pPr>
              <a:lnSpc>
                <a:spcPct val="110000"/>
              </a:lnSpc>
            </a:pPr>
            <a:r>
              <a:rPr lang="en-IN" sz="1400" dirty="0"/>
              <a:t>Developed FOG Detection Models</a:t>
            </a:r>
          </a:p>
          <a:p>
            <a:pPr lvl="1">
              <a:lnSpc>
                <a:spcPct val="110000"/>
              </a:lnSpc>
            </a:pPr>
            <a:r>
              <a:rPr lang="en-IN" sz="1400" dirty="0"/>
              <a:t>Created machine learning models tailored for detecting FOG events in Parkinson's patients.</a:t>
            </a:r>
          </a:p>
          <a:p>
            <a:pPr lvl="1">
              <a:lnSpc>
                <a:spcPct val="110000"/>
              </a:lnSpc>
            </a:pPr>
            <a:r>
              <a:rPr lang="en-IN" sz="1400" dirty="0"/>
              <a:t>Processed two datasets: Baseline and Post-</a:t>
            </a:r>
            <a:r>
              <a:rPr lang="en-IN" sz="1400" dirty="0" err="1"/>
              <a:t>tDCS</a:t>
            </a:r>
            <a:r>
              <a:rPr lang="en-IN" sz="1400" dirty="0"/>
              <a:t> (Transcranial Direct Current Stimulation) to predict FOG on both datasets</a:t>
            </a:r>
          </a:p>
          <a:p>
            <a:pPr>
              <a:lnSpc>
                <a:spcPct val="110000"/>
              </a:lnSpc>
            </a:pPr>
            <a:r>
              <a:rPr lang="en-IN" sz="1400" dirty="0"/>
              <a:t>Model Accuracy &amp; Adjustments</a:t>
            </a:r>
          </a:p>
          <a:p>
            <a:pPr lvl="1">
              <a:lnSpc>
                <a:spcPct val="110000"/>
              </a:lnSpc>
            </a:pPr>
            <a:r>
              <a:rPr lang="en-IN" sz="1400" dirty="0"/>
              <a:t>Initial</a:t>
            </a:r>
            <a:r>
              <a:rPr lang="en-IN" sz="1000" dirty="0"/>
              <a:t> </a:t>
            </a:r>
            <a:r>
              <a:rPr lang="en-IN" sz="1400" dirty="0"/>
              <a:t>LSTM model achieved low accuracy; changed to Multi-Layer Perceptron (MLP) for improved results.</a:t>
            </a:r>
          </a:p>
          <a:p>
            <a:pPr lvl="1">
              <a:lnSpc>
                <a:spcPct val="110000"/>
              </a:lnSpc>
            </a:pPr>
            <a:r>
              <a:rPr lang="en-IN" sz="1400" dirty="0"/>
              <a:t>Performed extensive tuning and feature engineering to optimize model performance.</a:t>
            </a:r>
          </a:p>
        </p:txBody>
      </p:sp>
    </p:spTree>
    <p:extLst>
      <p:ext uri="{BB962C8B-B14F-4D97-AF65-F5344CB8AC3E}">
        <p14:creationId xmlns:p14="http://schemas.microsoft.com/office/powerpoint/2010/main" val="883142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812DCD57-10C0-679F-1BB2-3C85AAC10595}"/>
            </a:ext>
          </a:extLst>
        </p:cNvPr>
        <p:cNvGrpSpPr/>
        <p:nvPr/>
      </p:nvGrpSpPr>
      <p:grpSpPr>
        <a:xfrm>
          <a:off x="0" y="0"/>
          <a:ext cx="0" cy="0"/>
          <a:chOff x="0" y="0"/>
          <a:chExt cx="0" cy="0"/>
        </a:xfrm>
      </p:grpSpPr>
      <p:pic>
        <p:nvPicPr>
          <p:cNvPr id="72" name="Picture 2">
            <a:extLst>
              <a:ext uri="{FF2B5EF4-FFF2-40B4-BE49-F238E27FC236}">
                <a16:creationId xmlns:a16="http://schemas.microsoft.com/office/drawing/2014/main" id="{9EB19A0D-88ED-4EC7-B012-FDA45662F2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73" name="Group 72">
            <a:extLst>
              <a:ext uri="{FF2B5EF4-FFF2-40B4-BE49-F238E27FC236}">
                <a16:creationId xmlns:a16="http://schemas.microsoft.com/office/drawing/2014/main" id="{039C885C-7507-48BC-8DA5-9B9A8A3B29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74" name="Rectangle 5">
              <a:extLst>
                <a:ext uri="{FF2B5EF4-FFF2-40B4-BE49-F238E27FC236}">
                  <a16:creationId xmlns:a16="http://schemas.microsoft.com/office/drawing/2014/main" id="{80315E80-D09C-4AAC-A1AA-6416ADD0A77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75" name="Freeform 6">
              <a:extLst>
                <a:ext uri="{FF2B5EF4-FFF2-40B4-BE49-F238E27FC236}">
                  <a16:creationId xmlns:a16="http://schemas.microsoft.com/office/drawing/2014/main" id="{464D5536-A035-4505-AF73-4F7CAE4882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6" name="Freeform 7">
              <a:extLst>
                <a:ext uri="{FF2B5EF4-FFF2-40B4-BE49-F238E27FC236}">
                  <a16:creationId xmlns:a16="http://schemas.microsoft.com/office/drawing/2014/main" id="{81218E36-F40D-459F-A201-0A62E0FA57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7" name="Rectangle 8">
              <a:extLst>
                <a:ext uri="{FF2B5EF4-FFF2-40B4-BE49-F238E27FC236}">
                  <a16:creationId xmlns:a16="http://schemas.microsoft.com/office/drawing/2014/main" id="{5B53825A-3A84-4E26-A19D-A61548B6A59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78" name="Freeform 9">
              <a:extLst>
                <a:ext uri="{FF2B5EF4-FFF2-40B4-BE49-F238E27FC236}">
                  <a16:creationId xmlns:a16="http://schemas.microsoft.com/office/drawing/2014/main" id="{AD90489C-7868-4D44-828E-5BD078E107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9" name="Freeform 10">
              <a:extLst>
                <a:ext uri="{FF2B5EF4-FFF2-40B4-BE49-F238E27FC236}">
                  <a16:creationId xmlns:a16="http://schemas.microsoft.com/office/drawing/2014/main" id="{98ED0810-C456-43E0-A430-4BF3E84BB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0" name="Freeform 11">
              <a:extLst>
                <a:ext uri="{FF2B5EF4-FFF2-40B4-BE49-F238E27FC236}">
                  <a16:creationId xmlns:a16="http://schemas.microsoft.com/office/drawing/2014/main" id="{E5A0D863-274E-498B-A757-EE462B7CF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1" name="Freeform 12">
              <a:extLst>
                <a:ext uri="{FF2B5EF4-FFF2-40B4-BE49-F238E27FC236}">
                  <a16:creationId xmlns:a16="http://schemas.microsoft.com/office/drawing/2014/main" id="{B7819E45-002E-4BE7-9D91-AF82D37762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2" name="Freeform 13">
              <a:extLst>
                <a:ext uri="{FF2B5EF4-FFF2-40B4-BE49-F238E27FC236}">
                  <a16:creationId xmlns:a16="http://schemas.microsoft.com/office/drawing/2014/main" id="{8B2A702D-53E8-4674-87E0-CA1F7E562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3" name="Freeform 14">
              <a:extLst>
                <a:ext uri="{FF2B5EF4-FFF2-40B4-BE49-F238E27FC236}">
                  <a16:creationId xmlns:a16="http://schemas.microsoft.com/office/drawing/2014/main" id="{451CEEF2-55A9-4CDF-BB69-2D07031F0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4" name="Freeform 15">
              <a:extLst>
                <a:ext uri="{FF2B5EF4-FFF2-40B4-BE49-F238E27FC236}">
                  <a16:creationId xmlns:a16="http://schemas.microsoft.com/office/drawing/2014/main" id="{DCEC5350-68CD-460C-999B-A6055EA506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5" name="Freeform 16">
              <a:extLst>
                <a:ext uri="{FF2B5EF4-FFF2-40B4-BE49-F238E27FC236}">
                  <a16:creationId xmlns:a16="http://schemas.microsoft.com/office/drawing/2014/main" id="{26945734-B592-423F-BCF3-8ED922746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6" name="Freeform 17">
              <a:extLst>
                <a:ext uri="{FF2B5EF4-FFF2-40B4-BE49-F238E27FC236}">
                  <a16:creationId xmlns:a16="http://schemas.microsoft.com/office/drawing/2014/main" id="{D6FF6791-D332-4D35-90E0-42011DF40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7" name="Freeform 18">
              <a:extLst>
                <a:ext uri="{FF2B5EF4-FFF2-40B4-BE49-F238E27FC236}">
                  <a16:creationId xmlns:a16="http://schemas.microsoft.com/office/drawing/2014/main" id="{B1ED9C0C-0AD0-4F60-BB85-02B00AFE76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8" name="Freeform 19">
              <a:extLst>
                <a:ext uri="{FF2B5EF4-FFF2-40B4-BE49-F238E27FC236}">
                  <a16:creationId xmlns:a16="http://schemas.microsoft.com/office/drawing/2014/main" id="{E202B26B-3FB3-4127-9295-F6E24A75E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9" name="Freeform 20">
              <a:extLst>
                <a:ext uri="{FF2B5EF4-FFF2-40B4-BE49-F238E27FC236}">
                  <a16:creationId xmlns:a16="http://schemas.microsoft.com/office/drawing/2014/main" id="{A9B0C70B-3686-4190-8592-736E11AB4D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0" name="Freeform 21">
              <a:extLst>
                <a:ext uri="{FF2B5EF4-FFF2-40B4-BE49-F238E27FC236}">
                  <a16:creationId xmlns:a16="http://schemas.microsoft.com/office/drawing/2014/main" id="{3DCD01FB-20E8-42C3-AFE9-DFD3F426A1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1" name="Freeform 22">
              <a:extLst>
                <a:ext uri="{FF2B5EF4-FFF2-40B4-BE49-F238E27FC236}">
                  <a16:creationId xmlns:a16="http://schemas.microsoft.com/office/drawing/2014/main" id="{E18D3AEB-E104-4243-893A-880F9A3C4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2" name="Freeform 23">
              <a:extLst>
                <a:ext uri="{FF2B5EF4-FFF2-40B4-BE49-F238E27FC236}">
                  <a16:creationId xmlns:a16="http://schemas.microsoft.com/office/drawing/2014/main" id="{25B79020-576E-46E2-BDDD-3D93C9DD5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3" name="Freeform 24">
              <a:extLst>
                <a:ext uri="{FF2B5EF4-FFF2-40B4-BE49-F238E27FC236}">
                  <a16:creationId xmlns:a16="http://schemas.microsoft.com/office/drawing/2014/main" id="{F9BE123C-99CB-4F9F-B6AD-D78B410111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4" name="Freeform 25">
              <a:extLst>
                <a:ext uri="{FF2B5EF4-FFF2-40B4-BE49-F238E27FC236}">
                  <a16:creationId xmlns:a16="http://schemas.microsoft.com/office/drawing/2014/main" id="{2652409A-0FBC-471C-8070-735AA2D18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5" name="Freeform 26">
              <a:extLst>
                <a:ext uri="{FF2B5EF4-FFF2-40B4-BE49-F238E27FC236}">
                  <a16:creationId xmlns:a16="http://schemas.microsoft.com/office/drawing/2014/main" id="{A7B0AC30-BECB-435E-B184-5893DAF4CF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6" name="Freeform 27">
              <a:extLst>
                <a:ext uri="{FF2B5EF4-FFF2-40B4-BE49-F238E27FC236}">
                  <a16:creationId xmlns:a16="http://schemas.microsoft.com/office/drawing/2014/main" id="{209F3AA3-0D92-49EA-8E9E-E85193591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7" name="Freeform 28">
              <a:extLst>
                <a:ext uri="{FF2B5EF4-FFF2-40B4-BE49-F238E27FC236}">
                  <a16:creationId xmlns:a16="http://schemas.microsoft.com/office/drawing/2014/main" id="{96C003E9-8BC2-48CC-ABF7-540233FDB0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8" name="Freeform 29">
              <a:extLst>
                <a:ext uri="{FF2B5EF4-FFF2-40B4-BE49-F238E27FC236}">
                  <a16:creationId xmlns:a16="http://schemas.microsoft.com/office/drawing/2014/main" id="{13BDD8BA-D378-486C-AAC9-F4BC3E8560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9" name="Freeform 30">
              <a:extLst>
                <a:ext uri="{FF2B5EF4-FFF2-40B4-BE49-F238E27FC236}">
                  <a16:creationId xmlns:a16="http://schemas.microsoft.com/office/drawing/2014/main" id="{04C38930-9B92-429B-915A-D0198D6ACD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0" name="Freeform 31">
              <a:extLst>
                <a:ext uri="{FF2B5EF4-FFF2-40B4-BE49-F238E27FC236}">
                  <a16:creationId xmlns:a16="http://schemas.microsoft.com/office/drawing/2014/main" id="{32660743-42C8-4FFB-A77B-66678E1E1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1" name="Freeform 32">
              <a:extLst>
                <a:ext uri="{FF2B5EF4-FFF2-40B4-BE49-F238E27FC236}">
                  <a16:creationId xmlns:a16="http://schemas.microsoft.com/office/drawing/2014/main" id="{6B242301-66B7-4876-B23A-1B97410A55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2" name="Rectangle 33">
              <a:extLst>
                <a:ext uri="{FF2B5EF4-FFF2-40B4-BE49-F238E27FC236}">
                  <a16:creationId xmlns:a16="http://schemas.microsoft.com/office/drawing/2014/main" id="{B05C5127-C481-4571-9E17-90305CA0A91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03" name="Freeform 34">
              <a:extLst>
                <a:ext uri="{FF2B5EF4-FFF2-40B4-BE49-F238E27FC236}">
                  <a16:creationId xmlns:a16="http://schemas.microsoft.com/office/drawing/2014/main" id="{BC0F1F06-EBE2-4919-A902-A503E384D26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4" name="Freeform 35">
              <a:extLst>
                <a:ext uri="{FF2B5EF4-FFF2-40B4-BE49-F238E27FC236}">
                  <a16:creationId xmlns:a16="http://schemas.microsoft.com/office/drawing/2014/main" id="{2B2E1C8D-A953-4AED-8346-C34CFE3BE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5" name="Freeform 36">
              <a:extLst>
                <a:ext uri="{FF2B5EF4-FFF2-40B4-BE49-F238E27FC236}">
                  <a16:creationId xmlns:a16="http://schemas.microsoft.com/office/drawing/2014/main" id="{8F150D6E-EB09-41AD-93BE-BF543BE36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6" name="Freeform 37">
              <a:extLst>
                <a:ext uri="{FF2B5EF4-FFF2-40B4-BE49-F238E27FC236}">
                  <a16:creationId xmlns:a16="http://schemas.microsoft.com/office/drawing/2014/main" id="{AE3633FE-8FF6-4FC3-8422-483E7FAEDE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7" name="Freeform 38">
              <a:extLst>
                <a:ext uri="{FF2B5EF4-FFF2-40B4-BE49-F238E27FC236}">
                  <a16:creationId xmlns:a16="http://schemas.microsoft.com/office/drawing/2014/main" id="{D233BC09-3785-4EA9-A80F-699EABFCD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8" name="Freeform 39">
              <a:extLst>
                <a:ext uri="{FF2B5EF4-FFF2-40B4-BE49-F238E27FC236}">
                  <a16:creationId xmlns:a16="http://schemas.microsoft.com/office/drawing/2014/main" id="{DEFAAC70-9A33-41C4-9960-80B056E47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9" name="Freeform 40">
              <a:extLst>
                <a:ext uri="{FF2B5EF4-FFF2-40B4-BE49-F238E27FC236}">
                  <a16:creationId xmlns:a16="http://schemas.microsoft.com/office/drawing/2014/main" id="{FE1B6380-FA49-4E35-B2EB-BC1D322A0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0" name="Freeform 41">
              <a:extLst>
                <a:ext uri="{FF2B5EF4-FFF2-40B4-BE49-F238E27FC236}">
                  <a16:creationId xmlns:a16="http://schemas.microsoft.com/office/drawing/2014/main" id="{F578AFE9-69B9-4FE3-A349-4640D49A5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1" name="Freeform 42">
              <a:extLst>
                <a:ext uri="{FF2B5EF4-FFF2-40B4-BE49-F238E27FC236}">
                  <a16:creationId xmlns:a16="http://schemas.microsoft.com/office/drawing/2014/main" id="{49C01CF4-73AC-40B8-8AA5-60072CBB34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2" name="Freeform 43">
              <a:extLst>
                <a:ext uri="{FF2B5EF4-FFF2-40B4-BE49-F238E27FC236}">
                  <a16:creationId xmlns:a16="http://schemas.microsoft.com/office/drawing/2014/main" id="{B4DA1C3D-282A-4010-9263-E2F62D79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3" name="Freeform 44">
              <a:extLst>
                <a:ext uri="{FF2B5EF4-FFF2-40B4-BE49-F238E27FC236}">
                  <a16:creationId xmlns:a16="http://schemas.microsoft.com/office/drawing/2014/main" id="{52475A43-7A28-4A0F-BA58-C070BB882B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4" name="Rectangle 45">
              <a:extLst>
                <a:ext uri="{FF2B5EF4-FFF2-40B4-BE49-F238E27FC236}">
                  <a16:creationId xmlns:a16="http://schemas.microsoft.com/office/drawing/2014/main" id="{0C7241CC-AC61-4580-A46E-C217B329EB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5" name="Freeform 46">
              <a:extLst>
                <a:ext uri="{FF2B5EF4-FFF2-40B4-BE49-F238E27FC236}">
                  <a16:creationId xmlns:a16="http://schemas.microsoft.com/office/drawing/2014/main" id="{584FF8AA-E75D-483B-A344-7022541CF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6" name="Freeform 47">
              <a:extLst>
                <a:ext uri="{FF2B5EF4-FFF2-40B4-BE49-F238E27FC236}">
                  <a16:creationId xmlns:a16="http://schemas.microsoft.com/office/drawing/2014/main" id="{AFF0ABD2-8247-432E-9F13-CCB7D0E620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7" name="Freeform 48">
              <a:extLst>
                <a:ext uri="{FF2B5EF4-FFF2-40B4-BE49-F238E27FC236}">
                  <a16:creationId xmlns:a16="http://schemas.microsoft.com/office/drawing/2014/main" id="{8779D639-A8BE-46A3-BF82-B0498C363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8" name="Freeform 49">
              <a:extLst>
                <a:ext uri="{FF2B5EF4-FFF2-40B4-BE49-F238E27FC236}">
                  <a16:creationId xmlns:a16="http://schemas.microsoft.com/office/drawing/2014/main" id="{62C75AD3-B601-4AB8-A449-C0375B263A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9" name="Freeform 50">
              <a:extLst>
                <a:ext uri="{FF2B5EF4-FFF2-40B4-BE49-F238E27FC236}">
                  <a16:creationId xmlns:a16="http://schemas.microsoft.com/office/drawing/2014/main" id="{7CEBAD4A-BB32-451F-B1E1-48D6F52EBD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0" name="Freeform 51">
              <a:extLst>
                <a:ext uri="{FF2B5EF4-FFF2-40B4-BE49-F238E27FC236}">
                  <a16:creationId xmlns:a16="http://schemas.microsoft.com/office/drawing/2014/main" id="{9EA19F7F-29F8-4DF4-AB9B-C4D507FA7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1" name="Freeform 52">
              <a:extLst>
                <a:ext uri="{FF2B5EF4-FFF2-40B4-BE49-F238E27FC236}">
                  <a16:creationId xmlns:a16="http://schemas.microsoft.com/office/drawing/2014/main" id="{9A6E14CB-BA29-40ED-B9E1-9AF554AFD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2" name="Freeform 53">
              <a:extLst>
                <a:ext uri="{FF2B5EF4-FFF2-40B4-BE49-F238E27FC236}">
                  <a16:creationId xmlns:a16="http://schemas.microsoft.com/office/drawing/2014/main" id="{384A67CA-9AF3-4473-9BC7-2C48C43261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3" name="Freeform 54">
              <a:extLst>
                <a:ext uri="{FF2B5EF4-FFF2-40B4-BE49-F238E27FC236}">
                  <a16:creationId xmlns:a16="http://schemas.microsoft.com/office/drawing/2014/main" id="{9DE1AF00-9D03-4DFB-B862-C86659628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4" name="Freeform 55">
              <a:extLst>
                <a:ext uri="{FF2B5EF4-FFF2-40B4-BE49-F238E27FC236}">
                  <a16:creationId xmlns:a16="http://schemas.microsoft.com/office/drawing/2014/main" id="{03D15E32-C507-4B36-B9AB-BD0A1AEBD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5" name="Freeform 56">
              <a:extLst>
                <a:ext uri="{FF2B5EF4-FFF2-40B4-BE49-F238E27FC236}">
                  <a16:creationId xmlns:a16="http://schemas.microsoft.com/office/drawing/2014/main" id="{978B3024-1C05-4858-A919-0ABF75EF7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6" name="Freeform 57">
              <a:extLst>
                <a:ext uri="{FF2B5EF4-FFF2-40B4-BE49-F238E27FC236}">
                  <a16:creationId xmlns:a16="http://schemas.microsoft.com/office/drawing/2014/main" id="{04B0C1D6-8B63-4D35-83C5-5D4331190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7" name="Freeform 58">
              <a:extLst>
                <a:ext uri="{FF2B5EF4-FFF2-40B4-BE49-F238E27FC236}">
                  <a16:creationId xmlns:a16="http://schemas.microsoft.com/office/drawing/2014/main" id="{C0409678-BF82-43B2-8F95-46A5A0E186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EF151D4C-F9B6-0DEE-B0A0-2217FAFA3B89}"/>
              </a:ext>
            </a:extLst>
          </p:cNvPr>
          <p:cNvSpPr>
            <a:spLocks noGrp="1"/>
          </p:cNvSpPr>
          <p:nvPr>
            <p:ph type="title"/>
          </p:nvPr>
        </p:nvSpPr>
        <p:spPr>
          <a:xfrm>
            <a:off x="595313" y="1113282"/>
            <a:ext cx="5016053" cy="2396681"/>
          </a:xfrm>
        </p:spPr>
        <p:txBody>
          <a:bodyPr vert="horz" lIns="91440" tIns="45720" rIns="91440" bIns="45720" rtlCol="0" anchor="b">
            <a:normAutofit/>
          </a:bodyPr>
          <a:lstStyle/>
          <a:p>
            <a:r>
              <a:rPr lang="en-US" sz="4800"/>
              <a:t>RESults contd..</a:t>
            </a:r>
          </a:p>
        </p:txBody>
      </p:sp>
      <p:sp>
        <p:nvSpPr>
          <p:cNvPr id="3" name="Content Placeholder 2">
            <a:extLst>
              <a:ext uri="{FF2B5EF4-FFF2-40B4-BE49-F238E27FC236}">
                <a16:creationId xmlns:a16="http://schemas.microsoft.com/office/drawing/2014/main" id="{BEA035AE-909E-66F1-5550-594316F109F8}"/>
              </a:ext>
            </a:extLst>
          </p:cNvPr>
          <p:cNvSpPr>
            <a:spLocks noGrp="1"/>
          </p:cNvSpPr>
          <p:nvPr>
            <p:ph idx="1"/>
          </p:nvPr>
        </p:nvSpPr>
        <p:spPr>
          <a:xfrm>
            <a:off x="1876425" y="3602038"/>
            <a:ext cx="3734942" cy="2052720"/>
          </a:xfrm>
        </p:spPr>
        <p:txBody>
          <a:bodyPr vert="horz" lIns="91440" tIns="45720" rIns="91440" bIns="45720" rtlCol="0">
            <a:normAutofit/>
          </a:bodyPr>
          <a:lstStyle/>
          <a:p>
            <a:pPr marL="0" indent="0">
              <a:buNone/>
            </a:pPr>
            <a:r>
              <a:rPr lang="en-US" sz="2000" cap="all">
                <a:solidFill>
                  <a:schemeClr val="tx2"/>
                </a:solidFill>
              </a:rPr>
              <a:t>The loss graphs</a:t>
            </a:r>
          </a:p>
        </p:txBody>
      </p:sp>
      <p:sp>
        <p:nvSpPr>
          <p:cNvPr id="128" name="Round Diagonal Corner Rectangle 6">
            <a:extLst>
              <a:ext uri="{FF2B5EF4-FFF2-40B4-BE49-F238E27FC236}">
                <a16:creationId xmlns:a16="http://schemas.microsoft.com/office/drawing/2014/main" id="{E6A49086-297C-45EA-8090-994D86666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808057"/>
            <a:ext cx="5286376" cy="5234394"/>
          </a:xfrm>
          <a:prstGeom prst="round2DiagRect">
            <a:avLst>
              <a:gd name="adj1" fmla="val 6185"/>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EF6232-A8B6-807E-F7D6-818B17C1E941}"/>
              </a:ext>
            </a:extLst>
          </p:cNvPr>
          <p:cNvPicPr>
            <a:picLocks noChangeAspect="1"/>
          </p:cNvPicPr>
          <p:nvPr/>
        </p:nvPicPr>
        <p:blipFill>
          <a:blip r:embed="rId4"/>
          <a:stretch>
            <a:fillRect/>
          </a:stretch>
        </p:blipFill>
        <p:spPr>
          <a:xfrm>
            <a:off x="7301824" y="1136607"/>
            <a:ext cx="2874726" cy="2206352"/>
          </a:xfrm>
          <a:prstGeom prst="rect">
            <a:avLst/>
          </a:prstGeom>
        </p:spPr>
      </p:pic>
      <p:pic>
        <p:nvPicPr>
          <p:cNvPr id="7" name="Picture 6">
            <a:extLst>
              <a:ext uri="{FF2B5EF4-FFF2-40B4-BE49-F238E27FC236}">
                <a16:creationId xmlns:a16="http://schemas.microsoft.com/office/drawing/2014/main" id="{416E712B-D036-5D23-57E7-FDFE31541869}"/>
              </a:ext>
            </a:extLst>
          </p:cNvPr>
          <p:cNvPicPr>
            <a:picLocks noChangeAspect="1"/>
          </p:cNvPicPr>
          <p:nvPr/>
        </p:nvPicPr>
        <p:blipFill>
          <a:blip r:embed="rId5"/>
          <a:stretch>
            <a:fillRect/>
          </a:stretch>
        </p:blipFill>
        <p:spPr>
          <a:xfrm>
            <a:off x="7297126" y="3507550"/>
            <a:ext cx="2884121" cy="2206353"/>
          </a:xfrm>
          <a:prstGeom prst="rect">
            <a:avLst/>
          </a:prstGeom>
        </p:spPr>
      </p:pic>
    </p:spTree>
    <p:extLst>
      <p:ext uri="{BB962C8B-B14F-4D97-AF65-F5344CB8AC3E}">
        <p14:creationId xmlns:p14="http://schemas.microsoft.com/office/powerpoint/2010/main" val="2668978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1" name="Picture 2">
            <a:extLst>
              <a:ext uri="{FF2B5EF4-FFF2-40B4-BE49-F238E27FC236}">
                <a16:creationId xmlns:a16="http://schemas.microsoft.com/office/drawing/2014/main" id="{5BD33659-8797-414B-BBDC-24F9423295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3" name="Group 22">
            <a:extLst>
              <a:ext uri="{FF2B5EF4-FFF2-40B4-BE49-F238E27FC236}">
                <a16:creationId xmlns:a16="http://schemas.microsoft.com/office/drawing/2014/main" id="{F810FE48-5F0C-4E97-BD7F-FDE128D85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24" name="Rectangle 5">
              <a:extLst>
                <a:ext uri="{FF2B5EF4-FFF2-40B4-BE49-F238E27FC236}">
                  <a16:creationId xmlns:a16="http://schemas.microsoft.com/office/drawing/2014/main" id="{9E9C04BA-ABF7-4D41-9977-2AC221BD441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5" name="Freeform 6">
              <a:extLst>
                <a:ext uri="{FF2B5EF4-FFF2-40B4-BE49-F238E27FC236}">
                  <a16:creationId xmlns:a16="http://schemas.microsoft.com/office/drawing/2014/main" id="{56AF6CAB-66FF-4AA8-8332-92421FA16C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7">
              <a:extLst>
                <a:ext uri="{FF2B5EF4-FFF2-40B4-BE49-F238E27FC236}">
                  <a16:creationId xmlns:a16="http://schemas.microsoft.com/office/drawing/2014/main" id="{2A7D0399-D212-4CE1-A9C0-9B98A2F0C1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Rectangle 8">
              <a:extLst>
                <a:ext uri="{FF2B5EF4-FFF2-40B4-BE49-F238E27FC236}">
                  <a16:creationId xmlns:a16="http://schemas.microsoft.com/office/drawing/2014/main" id="{18DF3D3C-1A48-496B-B941-76DF67EA739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8" name="Freeform 9">
              <a:extLst>
                <a:ext uri="{FF2B5EF4-FFF2-40B4-BE49-F238E27FC236}">
                  <a16:creationId xmlns:a16="http://schemas.microsoft.com/office/drawing/2014/main" id="{913F4BC7-7179-4E16-9FD6-A32BC13A0B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10">
              <a:extLst>
                <a:ext uri="{FF2B5EF4-FFF2-40B4-BE49-F238E27FC236}">
                  <a16:creationId xmlns:a16="http://schemas.microsoft.com/office/drawing/2014/main" id="{509355FA-2026-4EBE-8C72-9B94B1F1B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11">
              <a:extLst>
                <a:ext uri="{FF2B5EF4-FFF2-40B4-BE49-F238E27FC236}">
                  <a16:creationId xmlns:a16="http://schemas.microsoft.com/office/drawing/2014/main" id="{CDD190A1-6E3E-4C34-A19B-A52C6D3179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12">
              <a:extLst>
                <a:ext uri="{FF2B5EF4-FFF2-40B4-BE49-F238E27FC236}">
                  <a16:creationId xmlns:a16="http://schemas.microsoft.com/office/drawing/2014/main" id="{D5BA1962-F2E3-4CA2-BE44-53381D18F6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13">
              <a:extLst>
                <a:ext uri="{FF2B5EF4-FFF2-40B4-BE49-F238E27FC236}">
                  <a16:creationId xmlns:a16="http://schemas.microsoft.com/office/drawing/2014/main" id="{C2FA9E59-0DE1-449C-8D17-1475D5CC7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14">
              <a:extLst>
                <a:ext uri="{FF2B5EF4-FFF2-40B4-BE49-F238E27FC236}">
                  <a16:creationId xmlns:a16="http://schemas.microsoft.com/office/drawing/2014/main" id="{F1582807-3DE3-42F1-9941-728273E08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15">
              <a:extLst>
                <a:ext uri="{FF2B5EF4-FFF2-40B4-BE49-F238E27FC236}">
                  <a16:creationId xmlns:a16="http://schemas.microsoft.com/office/drawing/2014/main" id="{6C574FB1-69C5-49C2-A1C4-2A6590BF4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16">
              <a:extLst>
                <a:ext uri="{FF2B5EF4-FFF2-40B4-BE49-F238E27FC236}">
                  <a16:creationId xmlns:a16="http://schemas.microsoft.com/office/drawing/2014/main" id="{D4175D29-82CB-41CD-9E0F-17524FB027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17">
              <a:extLst>
                <a:ext uri="{FF2B5EF4-FFF2-40B4-BE49-F238E27FC236}">
                  <a16:creationId xmlns:a16="http://schemas.microsoft.com/office/drawing/2014/main" id="{9893387B-BD94-47D2-80DC-B9ADB6BD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18">
              <a:extLst>
                <a:ext uri="{FF2B5EF4-FFF2-40B4-BE49-F238E27FC236}">
                  <a16:creationId xmlns:a16="http://schemas.microsoft.com/office/drawing/2014/main" id="{BC2223CF-E8B9-48C3-8E70-7B38DBE2A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8" name="Freeform 19">
              <a:extLst>
                <a:ext uri="{FF2B5EF4-FFF2-40B4-BE49-F238E27FC236}">
                  <a16:creationId xmlns:a16="http://schemas.microsoft.com/office/drawing/2014/main" id="{CB660EF5-7021-48D0-B131-DA22FAF8DA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9" name="Freeform 20">
              <a:extLst>
                <a:ext uri="{FF2B5EF4-FFF2-40B4-BE49-F238E27FC236}">
                  <a16:creationId xmlns:a16="http://schemas.microsoft.com/office/drawing/2014/main" id="{7A02052F-7B58-4423-9CBA-27D8D838A9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0" name="Freeform 21">
              <a:extLst>
                <a:ext uri="{FF2B5EF4-FFF2-40B4-BE49-F238E27FC236}">
                  <a16:creationId xmlns:a16="http://schemas.microsoft.com/office/drawing/2014/main" id="{42231171-7F2B-4B11-B34A-D98DB41439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1" name="Freeform 22">
              <a:extLst>
                <a:ext uri="{FF2B5EF4-FFF2-40B4-BE49-F238E27FC236}">
                  <a16:creationId xmlns:a16="http://schemas.microsoft.com/office/drawing/2014/main" id="{AED192E7-1105-4649-8D4D-C86FFEDF6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2" name="Freeform 23">
              <a:extLst>
                <a:ext uri="{FF2B5EF4-FFF2-40B4-BE49-F238E27FC236}">
                  <a16:creationId xmlns:a16="http://schemas.microsoft.com/office/drawing/2014/main" id="{8BA48BFE-2223-4E9C-A0EE-DE11843C3D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3" name="Freeform 24">
              <a:extLst>
                <a:ext uri="{FF2B5EF4-FFF2-40B4-BE49-F238E27FC236}">
                  <a16:creationId xmlns:a16="http://schemas.microsoft.com/office/drawing/2014/main" id="{B3FB57C9-C83B-4ADC-8E93-312492D431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4" name="Freeform 25">
              <a:extLst>
                <a:ext uri="{FF2B5EF4-FFF2-40B4-BE49-F238E27FC236}">
                  <a16:creationId xmlns:a16="http://schemas.microsoft.com/office/drawing/2014/main" id="{AF6405A6-6E98-40DD-945A-E6D969231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5" name="Freeform 26">
              <a:extLst>
                <a:ext uri="{FF2B5EF4-FFF2-40B4-BE49-F238E27FC236}">
                  <a16:creationId xmlns:a16="http://schemas.microsoft.com/office/drawing/2014/main" id="{2D181A4A-23A5-4683-9F05-61228AD268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6" name="Freeform 27">
              <a:extLst>
                <a:ext uri="{FF2B5EF4-FFF2-40B4-BE49-F238E27FC236}">
                  <a16:creationId xmlns:a16="http://schemas.microsoft.com/office/drawing/2014/main" id="{201ABEF6-F58B-46EC-85FB-228E60962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7" name="Freeform 28">
              <a:extLst>
                <a:ext uri="{FF2B5EF4-FFF2-40B4-BE49-F238E27FC236}">
                  <a16:creationId xmlns:a16="http://schemas.microsoft.com/office/drawing/2014/main" id="{D6EBECB6-1B5C-43E5-84BF-8D5385C030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8" name="Freeform 29">
              <a:extLst>
                <a:ext uri="{FF2B5EF4-FFF2-40B4-BE49-F238E27FC236}">
                  <a16:creationId xmlns:a16="http://schemas.microsoft.com/office/drawing/2014/main" id="{6D5B4EBF-EF44-4914-AE66-247EF3D35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9" name="Freeform 30">
              <a:extLst>
                <a:ext uri="{FF2B5EF4-FFF2-40B4-BE49-F238E27FC236}">
                  <a16:creationId xmlns:a16="http://schemas.microsoft.com/office/drawing/2014/main" id="{43593E76-10EF-45B3-86EB-CA59047CC6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0" name="Freeform 31">
              <a:extLst>
                <a:ext uri="{FF2B5EF4-FFF2-40B4-BE49-F238E27FC236}">
                  <a16:creationId xmlns:a16="http://schemas.microsoft.com/office/drawing/2014/main" id="{FC3720B0-AA35-49D1-B5A6-9215D0138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1" name="Freeform 32">
              <a:extLst>
                <a:ext uri="{FF2B5EF4-FFF2-40B4-BE49-F238E27FC236}">
                  <a16:creationId xmlns:a16="http://schemas.microsoft.com/office/drawing/2014/main" id="{EEE267FA-B493-44EE-B372-8CB3A0450D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2" name="Rectangle 33">
              <a:extLst>
                <a:ext uri="{FF2B5EF4-FFF2-40B4-BE49-F238E27FC236}">
                  <a16:creationId xmlns:a16="http://schemas.microsoft.com/office/drawing/2014/main" id="{3DA75F6F-8EDF-4DF8-89BF-9C1137D1729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53" name="Freeform 34">
              <a:extLst>
                <a:ext uri="{FF2B5EF4-FFF2-40B4-BE49-F238E27FC236}">
                  <a16:creationId xmlns:a16="http://schemas.microsoft.com/office/drawing/2014/main" id="{5BEEC465-A6AB-47E5-8FB5-DCA91F165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4" name="Freeform 35">
              <a:extLst>
                <a:ext uri="{FF2B5EF4-FFF2-40B4-BE49-F238E27FC236}">
                  <a16:creationId xmlns:a16="http://schemas.microsoft.com/office/drawing/2014/main" id="{89B9E785-F9F2-4951-8158-002B55126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5" name="Freeform 36">
              <a:extLst>
                <a:ext uri="{FF2B5EF4-FFF2-40B4-BE49-F238E27FC236}">
                  <a16:creationId xmlns:a16="http://schemas.microsoft.com/office/drawing/2014/main" id="{E1F4058F-C686-4BF1-9DE9-C917CAB90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6" name="Freeform 37">
              <a:extLst>
                <a:ext uri="{FF2B5EF4-FFF2-40B4-BE49-F238E27FC236}">
                  <a16:creationId xmlns:a16="http://schemas.microsoft.com/office/drawing/2014/main" id="{F1337D0C-63AE-4024-A976-1392877614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7" name="Freeform 38">
              <a:extLst>
                <a:ext uri="{FF2B5EF4-FFF2-40B4-BE49-F238E27FC236}">
                  <a16:creationId xmlns:a16="http://schemas.microsoft.com/office/drawing/2014/main" id="{7F12E32F-60F1-4DA3-A0B8-05E6AF31D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8" name="Freeform 39">
              <a:extLst>
                <a:ext uri="{FF2B5EF4-FFF2-40B4-BE49-F238E27FC236}">
                  <a16:creationId xmlns:a16="http://schemas.microsoft.com/office/drawing/2014/main" id="{7CC92CAE-5F95-49A9-B9F9-94A1DEE98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9" name="Freeform 40">
              <a:extLst>
                <a:ext uri="{FF2B5EF4-FFF2-40B4-BE49-F238E27FC236}">
                  <a16:creationId xmlns:a16="http://schemas.microsoft.com/office/drawing/2014/main" id="{610BE2B0-1D02-4099-9DD8-339F22FEE2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0" name="Freeform 41">
              <a:extLst>
                <a:ext uri="{FF2B5EF4-FFF2-40B4-BE49-F238E27FC236}">
                  <a16:creationId xmlns:a16="http://schemas.microsoft.com/office/drawing/2014/main" id="{E10409A3-2BB1-41E7-90AE-3D296FC1F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1" name="Freeform 42">
              <a:extLst>
                <a:ext uri="{FF2B5EF4-FFF2-40B4-BE49-F238E27FC236}">
                  <a16:creationId xmlns:a16="http://schemas.microsoft.com/office/drawing/2014/main" id="{F8F8E99E-F806-4235-ADFB-25B49D4A83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2" name="Freeform 43">
              <a:extLst>
                <a:ext uri="{FF2B5EF4-FFF2-40B4-BE49-F238E27FC236}">
                  <a16:creationId xmlns:a16="http://schemas.microsoft.com/office/drawing/2014/main" id="{3C4715E6-9985-446B-ADB4-B82272988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3" name="Freeform 44">
              <a:extLst>
                <a:ext uri="{FF2B5EF4-FFF2-40B4-BE49-F238E27FC236}">
                  <a16:creationId xmlns:a16="http://schemas.microsoft.com/office/drawing/2014/main" id="{071C6B3A-09E9-4DEC-ADEE-FA919B782D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4" name="Rectangle 45">
              <a:extLst>
                <a:ext uri="{FF2B5EF4-FFF2-40B4-BE49-F238E27FC236}">
                  <a16:creationId xmlns:a16="http://schemas.microsoft.com/office/drawing/2014/main" id="{DE1E82C9-0A74-451A-A063-6818E33B0E1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65" name="Freeform 46">
              <a:extLst>
                <a:ext uri="{FF2B5EF4-FFF2-40B4-BE49-F238E27FC236}">
                  <a16:creationId xmlns:a16="http://schemas.microsoft.com/office/drawing/2014/main" id="{F3662B80-5B88-475B-89A9-8E6AFBDCA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6" name="Freeform 47">
              <a:extLst>
                <a:ext uri="{FF2B5EF4-FFF2-40B4-BE49-F238E27FC236}">
                  <a16:creationId xmlns:a16="http://schemas.microsoft.com/office/drawing/2014/main" id="{ECA55A40-ECA9-4F56-9D04-8C68C1910E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7" name="Freeform 48">
              <a:extLst>
                <a:ext uri="{FF2B5EF4-FFF2-40B4-BE49-F238E27FC236}">
                  <a16:creationId xmlns:a16="http://schemas.microsoft.com/office/drawing/2014/main" id="{D1CED64C-F0D9-4EA6-B88B-E4795F81D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8" name="Freeform 49">
              <a:extLst>
                <a:ext uri="{FF2B5EF4-FFF2-40B4-BE49-F238E27FC236}">
                  <a16:creationId xmlns:a16="http://schemas.microsoft.com/office/drawing/2014/main" id="{4641FE6D-04B5-4BBE-B700-E3A0C057BF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9" name="Freeform 50">
              <a:extLst>
                <a:ext uri="{FF2B5EF4-FFF2-40B4-BE49-F238E27FC236}">
                  <a16:creationId xmlns:a16="http://schemas.microsoft.com/office/drawing/2014/main" id="{1426A56A-D27A-4C9A-A74C-5A73E5AD6F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0" name="Freeform 51">
              <a:extLst>
                <a:ext uri="{FF2B5EF4-FFF2-40B4-BE49-F238E27FC236}">
                  <a16:creationId xmlns:a16="http://schemas.microsoft.com/office/drawing/2014/main" id="{0D2887A6-6597-4932-AEA0-A1B3C719B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1" name="Freeform 52">
              <a:extLst>
                <a:ext uri="{FF2B5EF4-FFF2-40B4-BE49-F238E27FC236}">
                  <a16:creationId xmlns:a16="http://schemas.microsoft.com/office/drawing/2014/main" id="{32CCC3DB-409A-48A3-A79A-2E37A9603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2" name="Freeform 53">
              <a:extLst>
                <a:ext uri="{FF2B5EF4-FFF2-40B4-BE49-F238E27FC236}">
                  <a16:creationId xmlns:a16="http://schemas.microsoft.com/office/drawing/2014/main" id="{1C2C9C8A-AD45-4AA6-817C-3010FCF20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3" name="Freeform 54">
              <a:extLst>
                <a:ext uri="{FF2B5EF4-FFF2-40B4-BE49-F238E27FC236}">
                  <a16:creationId xmlns:a16="http://schemas.microsoft.com/office/drawing/2014/main" id="{BD8D346A-C641-4BD2-B5AE-C48CC6A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4" name="Freeform 55">
              <a:extLst>
                <a:ext uri="{FF2B5EF4-FFF2-40B4-BE49-F238E27FC236}">
                  <a16:creationId xmlns:a16="http://schemas.microsoft.com/office/drawing/2014/main" id="{6BD8EEEB-07A6-4582-9E40-4AA094FED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5" name="Freeform 56">
              <a:extLst>
                <a:ext uri="{FF2B5EF4-FFF2-40B4-BE49-F238E27FC236}">
                  <a16:creationId xmlns:a16="http://schemas.microsoft.com/office/drawing/2014/main" id="{9E6A63A8-37FA-425D-86BE-BF9A568AFE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6" name="Freeform 57">
              <a:extLst>
                <a:ext uri="{FF2B5EF4-FFF2-40B4-BE49-F238E27FC236}">
                  <a16:creationId xmlns:a16="http://schemas.microsoft.com/office/drawing/2014/main" id="{3F5FAEF2-49E0-4F5C-A6D4-26C2FE15F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77" name="Freeform 58">
              <a:extLst>
                <a:ext uri="{FF2B5EF4-FFF2-40B4-BE49-F238E27FC236}">
                  <a16:creationId xmlns:a16="http://schemas.microsoft.com/office/drawing/2014/main" id="{BF106702-ED0E-4145-BF3A-08F15BCC2F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39E7362F-2DCA-F07D-F087-182E780630A4}"/>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400"/>
              <a:t>Confusion matrices: Base dataset</a:t>
            </a:r>
          </a:p>
        </p:txBody>
      </p:sp>
      <p:sp>
        <p:nvSpPr>
          <p:cNvPr id="79" name="Round Diagonal Corner Rectangle 6">
            <a:extLst>
              <a:ext uri="{FF2B5EF4-FFF2-40B4-BE49-F238E27FC236}">
                <a16:creationId xmlns:a16="http://schemas.microsoft.com/office/drawing/2014/main" id="{EABB84BE-0963-460C-A606-595C4DAFF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0960BAD-C7C0-0AA3-AB4A-2A5F1D3E41A2}"/>
              </a:ext>
            </a:extLst>
          </p:cNvPr>
          <p:cNvPicPr>
            <a:picLocks noChangeAspect="1"/>
          </p:cNvPicPr>
          <p:nvPr/>
        </p:nvPicPr>
        <p:blipFill>
          <a:blip r:embed="rId4"/>
          <a:stretch>
            <a:fillRect/>
          </a:stretch>
        </p:blipFill>
        <p:spPr>
          <a:xfrm>
            <a:off x="1118988" y="2317317"/>
            <a:ext cx="2974328" cy="2215874"/>
          </a:xfrm>
          <a:prstGeom prst="rect">
            <a:avLst/>
          </a:prstGeom>
        </p:spPr>
      </p:pic>
      <p:pic>
        <p:nvPicPr>
          <p:cNvPr id="7" name="Picture 6">
            <a:extLst>
              <a:ext uri="{FF2B5EF4-FFF2-40B4-BE49-F238E27FC236}">
                <a16:creationId xmlns:a16="http://schemas.microsoft.com/office/drawing/2014/main" id="{E186E7B8-6E8D-D553-8693-1A024B5CE768}"/>
              </a:ext>
            </a:extLst>
          </p:cNvPr>
          <p:cNvPicPr>
            <a:picLocks noChangeAspect="1"/>
          </p:cNvPicPr>
          <p:nvPr/>
        </p:nvPicPr>
        <p:blipFill>
          <a:blip r:embed="rId5"/>
          <a:stretch>
            <a:fillRect/>
          </a:stretch>
        </p:blipFill>
        <p:spPr>
          <a:xfrm>
            <a:off x="4262182" y="1136606"/>
            <a:ext cx="2964047" cy="2208215"/>
          </a:xfrm>
          <a:prstGeom prst="rect">
            <a:avLst/>
          </a:prstGeom>
        </p:spPr>
      </p:pic>
      <p:pic>
        <p:nvPicPr>
          <p:cNvPr id="9" name="Picture 8">
            <a:extLst>
              <a:ext uri="{FF2B5EF4-FFF2-40B4-BE49-F238E27FC236}">
                <a16:creationId xmlns:a16="http://schemas.microsoft.com/office/drawing/2014/main" id="{76BA2AE3-5C7E-316C-4E74-0FA3105EE195}"/>
              </a:ext>
            </a:extLst>
          </p:cNvPr>
          <p:cNvPicPr>
            <a:picLocks noChangeAspect="1"/>
          </p:cNvPicPr>
          <p:nvPr/>
        </p:nvPicPr>
        <p:blipFill>
          <a:blip r:embed="rId6"/>
          <a:stretch>
            <a:fillRect/>
          </a:stretch>
        </p:blipFill>
        <p:spPr>
          <a:xfrm>
            <a:off x="4262182" y="3505688"/>
            <a:ext cx="2964047" cy="2208215"/>
          </a:xfrm>
          <a:prstGeom prst="rect">
            <a:avLst/>
          </a:prstGeom>
        </p:spPr>
      </p:pic>
    </p:spTree>
    <p:extLst>
      <p:ext uri="{BB962C8B-B14F-4D97-AF65-F5344CB8AC3E}">
        <p14:creationId xmlns:p14="http://schemas.microsoft.com/office/powerpoint/2010/main" val="4194925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84" name="Picture 2">
            <a:extLst>
              <a:ext uri="{FF2B5EF4-FFF2-40B4-BE49-F238E27FC236}">
                <a16:creationId xmlns:a16="http://schemas.microsoft.com/office/drawing/2014/main" id="{5BD33659-8797-414B-BBDC-24F9423295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86" name="Group 85">
            <a:extLst>
              <a:ext uri="{FF2B5EF4-FFF2-40B4-BE49-F238E27FC236}">
                <a16:creationId xmlns:a16="http://schemas.microsoft.com/office/drawing/2014/main" id="{F810FE48-5F0C-4E97-BD7F-FDE128D85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87" name="Rectangle 5">
              <a:extLst>
                <a:ext uri="{FF2B5EF4-FFF2-40B4-BE49-F238E27FC236}">
                  <a16:creationId xmlns:a16="http://schemas.microsoft.com/office/drawing/2014/main" id="{9E9C04BA-ABF7-4D41-9977-2AC221BD441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88" name="Freeform 6">
              <a:extLst>
                <a:ext uri="{FF2B5EF4-FFF2-40B4-BE49-F238E27FC236}">
                  <a16:creationId xmlns:a16="http://schemas.microsoft.com/office/drawing/2014/main" id="{56AF6CAB-66FF-4AA8-8332-92421FA16C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89" name="Freeform 7">
              <a:extLst>
                <a:ext uri="{FF2B5EF4-FFF2-40B4-BE49-F238E27FC236}">
                  <a16:creationId xmlns:a16="http://schemas.microsoft.com/office/drawing/2014/main" id="{2A7D0399-D212-4CE1-A9C0-9B98A2F0C1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0" name="Rectangle 8">
              <a:extLst>
                <a:ext uri="{FF2B5EF4-FFF2-40B4-BE49-F238E27FC236}">
                  <a16:creationId xmlns:a16="http://schemas.microsoft.com/office/drawing/2014/main" id="{18DF3D3C-1A48-496B-B941-76DF67EA739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91" name="Freeform 9">
              <a:extLst>
                <a:ext uri="{FF2B5EF4-FFF2-40B4-BE49-F238E27FC236}">
                  <a16:creationId xmlns:a16="http://schemas.microsoft.com/office/drawing/2014/main" id="{913F4BC7-7179-4E16-9FD6-A32BC13A0B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2" name="Freeform 10">
              <a:extLst>
                <a:ext uri="{FF2B5EF4-FFF2-40B4-BE49-F238E27FC236}">
                  <a16:creationId xmlns:a16="http://schemas.microsoft.com/office/drawing/2014/main" id="{509355FA-2026-4EBE-8C72-9B94B1F1B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3" name="Freeform 11">
              <a:extLst>
                <a:ext uri="{FF2B5EF4-FFF2-40B4-BE49-F238E27FC236}">
                  <a16:creationId xmlns:a16="http://schemas.microsoft.com/office/drawing/2014/main" id="{CDD190A1-6E3E-4C34-A19B-A52C6D3179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4" name="Freeform 12">
              <a:extLst>
                <a:ext uri="{FF2B5EF4-FFF2-40B4-BE49-F238E27FC236}">
                  <a16:creationId xmlns:a16="http://schemas.microsoft.com/office/drawing/2014/main" id="{D5BA1962-F2E3-4CA2-BE44-53381D18F6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5" name="Freeform 13">
              <a:extLst>
                <a:ext uri="{FF2B5EF4-FFF2-40B4-BE49-F238E27FC236}">
                  <a16:creationId xmlns:a16="http://schemas.microsoft.com/office/drawing/2014/main" id="{C2FA9E59-0DE1-449C-8D17-1475D5CC7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6" name="Freeform 14">
              <a:extLst>
                <a:ext uri="{FF2B5EF4-FFF2-40B4-BE49-F238E27FC236}">
                  <a16:creationId xmlns:a16="http://schemas.microsoft.com/office/drawing/2014/main" id="{F1582807-3DE3-42F1-9941-728273E08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7" name="Freeform 15">
              <a:extLst>
                <a:ext uri="{FF2B5EF4-FFF2-40B4-BE49-F238E27FC236}">
                  <a16:creationId xmlns:a16="http://schemas.microsoft.com/office/drawing/2014/main" id="{6C574FB1-69C5-49C2-A1C4-2A6590BF4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8" name="Freeform 16">
              <a:extLst>
                <a:ext uri="{FF2B5EF4-FFF2-40B4-BE49-F238E27FC236}">
                  <a16:creationId xmlns:a16="http://schemas.microsoft.com/office/drawing/2014/main" id="{D4175D29-82CB-41CD-9E0F-17524FB027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99" name="Freeform 17">
              <a:extLst>
                <a:ext uri="{FF2B5EF4-FFF2-40B4-BE49-F238E27FC236}">
                  <a16:creationId xmlns:a16="http://schemas.microsoft.com/office/drawing/2014/main" id="{9893387B-BD94-47D2-80DC-B9ADB6BD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0" name="Freeform 18">
              <a:extLst>
                <a:ext uri="{FF2B5EF4-FFF2-40B4-BE49-F238E27FC236}">
                  <a16:creationId xmlns:a16="http://schemas.microsoft.com/office/drawing/2014/main" id="{BC2223CF-E8B9-48C3-8E70-7B38DBE2A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1" name="Freeform 19">
              <a:extLst>
                <a:ext uri="{FF2B5EF4-FFF2-40B4-BE49-F238E27FC236}">
                  <a16:creationId xmlns:a16="http://schemas.microsoft.com/office/drawing/2014/main" id="{CB660EF5-7021-48D0-B131-DA22FAF8DA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2" name="Freeform 20">
              <a:extLst>
                <a:ext uri="{FF2B5EF4-FFF2-40B4-BE49-F238E27FC236}">
                  <a16:creationId xmlns:a16="http://schemas.microsoft.com/office/drawing/2014/main" id="{7A02052F-7B58-4423-9CBA-27D8D838A9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3" name="Freeform 21">
              <a:extLst>
                <a:ext uri="{FF2B5EF4-FFF2-40B4-BE49-F238E27FC236}">
                  <a16:creationId xmlns:a16="http://schemas.microsoft.com/office/drawing/2014/main" id="{42231171-7F2B-4B11-B34A-D98DB41439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4" name="Freeform 22">
              <a:extLst>
                <a:ext uri="{FF2B5EF4-FFF2-40B4-BE49-F238E27FC236}">
                  <a16:creationId xmlns:a16="http://schemas.microsoft.com/office/drawing/2014/main" id="{AED192E7-1105-4649-8D4D-C86FFEDF6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5" name="Freeform 23">
              <a:extLst>
                <a:ext uri="{FF2B5EF4-FFF2-40B4-BE49-F238E27FC236}">
                  <a16:creationId xmlns:a16="http://schemas.microsoft.com/office/drawing/2014/main" id="{8BA48BFE-2223-4E9C-A0EE-DE11843C3D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6" name="Freeform 24">
              <a:extLst>
                <a:ext uri="{FF2B5EF4-FFF2-40B4-BE49-F238E27FC236}">
                  <a16:creationId xmlns:a16="http://schemas.microsoft.com/office/drawing/2014/main" id="{B3FB57C9-C83B-4ADC-8E93-312492D431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7" name="Freeform 25">
              <a:extLst>
                <a:ext uri="{FF2B5EF4-FFF2-40B4-BE49-F238E27FC236}">
                  <a16:creationId xmlns:a16="http://schemas.microsoft.com/office/drawing/2014/main" id="{AF6405A6-6E98-40DD-945A-E6D969231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8" name="Freeform 26">
              <a:extLst>
                <a:ext uri="{FF2B5EF4-FFF2-40B4-BE49-F238E27FC236}">
                  <a16:creationId xmlns:a16="http://schemas.microsoft.com/office/drawing/2014/main" id="{2D181A4A-23A5-4683-9F05-61228AD268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09" name="Freeform 27">
              <a:extLst>
                <a:ext uri="{FF2B5EF4-FFF2-40B4-BE49-F238E27FC236}">
                  <a16:creationId xmlns:a16="http://schemas.microsoft.com/office/drawing/2014/main" id="{201ABEF6-F58B-46EC-85FB-228E60962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0" name="Freeform 28">
              <a:extLst>
                <a:ext uri="{FF2B5EF4-FFF2-40B4-BE49-F238E27FC236}">
                  <a16:creationId xmlns:a16="http://schemas.microsoft.com/office/drawing/2014/main" id="{D6EBECB6-1B5C-43E5-84BF-8D5385C030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1" name="Freeform 29">
              <a:extLst>
                <a:ext uri="{FF2B5EF4-FFF2-40B4-BE49-F238E27FC236}">
                  <a16:creationId xmlns:a16="http://schemas.microsoft.com/office/drawing/2014/main" id="{6D5B4EBF-EF44-4914-AE66-247EF3D35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2" name="Freeform 30">
              <a:extLst>
                <a:ext uri="{FF2B5EF4-FFF2-40B4-BE49-F238E27FC236}">
                  <a16:creationId xmlns:a16="http://schemas.microsoft.com/office/drawing/2014/main" id="{43593E76-10EF-45B3-86EB-CA59047CC6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3" name="Freeform 31">
              <a:extLst>
                <a:ext uri="{FF2B5EF4-FFF2-40B4-BE49-F238E27FC236}">
                  <a16:creationId xmlns:a16="http://schemas.microsoft.com/office/drawing/2014/main" id="{FC3720B0-AA35-49D1-B5A6-9215D0138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4" name="Freeform 32">
              <a:extLst>
                <a:ext uri="{FF2B5EF4-FFF2-40B4-BE49-F238E27FC236}">
                  <a16:creationId xmlns:a16="http://schemas.microsoft.com/office/drawing/2014/main" id="{EEE267FA-B493-44EE-B372-8CB3A0450D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5" name="Rectangle 33">
              <a:extLst>
                <a:ext uri="{FF2B5EF4-FFF2-40B4-BE49-F238E27FC236}">
                  <a16:creationId xmlns:a16="http://schemas.microsoft.com/office/drawing/2014/main" id="{3DA75F6F-8EDF-4DF8-89BF-9C1137D1729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16" name="Freeform 34">
              <a:extLst>
                <a:ext uri="{FF2B5EF4-FFF2-40B4-BE49-F238E27FC236}">
                  <a16:creationId xmlns:a16="http://schemas.microsoft.com/office/drawing/2014/main" id="{5BEEC465-A6AB-47E5-8FB5-DCA91F165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7" name="Freeform 35">
              <a:extLst>
                <a:ext uri="{FF2B5EF4-FFF2-40B4-BE49-F238E27FC236}">
                  <a16:creationId xmlns:a16="http://schemas.microsoft.com/office/drawing/2014/main" id="{89B9E785-F9F2-4951-8158-002B55126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8" name="Freeform 36">
              <a:extLst>
                <a:ext uri="{FF2B5EF4-FFF2-40B4-BE49-F238E27FC236}">
                  <a16:creationId xmlns:a16="http://schemas.microsoft.com/office/drawing/2014/main" id="{E1F4058F-C686-4BF1-9DE9-C917CAB90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19" name="Freeform 37">
              <a:extLst>
                <a:ext uri="{FF2B5EF4-FFF2-40B4-BE49-F238E27FC236}">
                  <a16:creationId xmlns:a16="http://schemas.microsoft.com/office/drawing/2014/main" id="{F1337D0C-63AE-4024-A976-1392877614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0" name="Freeform 38">
              <a:extLst>
                <a:ext uri="{FF2B5EF4-FFF2-40B4-BE49-F238E27FC236}">
                  <a16:creationId xmlns:a16="http://schemas.microsoft.com/office/drawing/2014/main" id="{7F12E32F-60F1-4DA3-A0B8-05E6AF31D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1" name="Freeform 39">
              <a:extLst>
                <a:ext uri="{FF2B5EF4-FFF2-40B4-BE49-F238E27FC236}">
                  <a16:creationId xmlns:a16="http://schemas.microsoft.com/office/drawing/2014/main" id="{7CC92CAE-5F95-49A9-B9F9-94A1DEE98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2" name="Freeform 40">
              <a:extLst>
                <a:ext uri="{FF2B5EF4-FFF2-40B4-BE49-F238E27FC236}">
                  <a16:creationId xmlns:a16="http://schemas.microsoft.com/office/drawing/2014/main" id="{610BE2B0-1D02-4099-9DD8-339F22FEE2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3" name="Freeform 41">
              <a:extLst>
                <a:ext uri="{FF2B5EF4-FFF2-40B4-BE49-F238E27FC236}">
                  <a16:creationId xmlns:a16="http://schemas.microsoft.com/office/drawing/2014/main" id="{E10409A3-2BB1-41E7-90AE-3D296FC1F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4" name="Freeform 42">
              <a:extLst>
                <a:ext uri="{FF2B5EF4-FFF2-40B4-BE49-F238E27FC236}">
                  <a16:creationId xmlns:a16="http://schemas.microsoft.com/office/drawing/2014/main" id="{F8F8E99E-F806-4235-ADFB-25B49D4A83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5" name="Freeform 43">
              <a:extLst>
                <a:ext uri="{FF2B5EF4-FFF2-40B4-BE49-F238E27FC236}">
                  <a16:creationId xmlns:a16="http://schemas.microsoft.com/office/drawing/2014/main" id="{3C4715E6-9985-446B-ADB4-B82272988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6" name="Freeform 44">
              <a:extLst>
                <a:ext uri="{FF2B5EF4-FFF2-40B4-BE49-F238E27FC236}">
                  <a16:creationId xmlns:a16="http://schemas.microsoft.com/office/drawing/2014/main" id="{071C6B3A-09E9-4DEC-ADEE-FA919B782D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7" name="Rectangle 45">
              <a:extLst>
                <a:ext uri="{FF2B5EF4-FFF2-40B4-BE49-F238E27FC236}">
                  <a16:creationId xmlns:a16="http://schemas.microsoft.com/office/drawing/2014/main" id="{DE1E82C9-0A74-451A-A063-6818E33B0E1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28" name="Freeform 46">
              <a:extLst>
                <a:ext uri="{FF2B5EF4-FFF2-40B4-BE49-F238E27FC236}">
                  <a16:creationId xmlns:a16="http://schemas.microsoft.com/office/drawing/2014/main" id="{F3662B80-5B88-475B-89A9-8E6AFBDCA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29" name="Freeform 47">
              <a:extLst>
                <a:ext uri="{FF2B5EF4-FFF2-40B4-BE49-F238E27FC236}">
                  <a16:creationId xmlns:a16="http://schemas.microsoft.com/office/drawing/2014/main" id="{ECA55A40-ECA9-4F56-9D04-8C68C1910E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0" name="Freeform 48">
              <a:extLst>
                <a:ext uri="{FF2B5EF4-FFF2-40B4-BE49-F238E27FC236}">
                  <a16:creationId xmlns:a16="http://schemas.microsoft.com/office/drawing/2014/main" id="{D1CED64C-F0D9-4EA6-B88B-E4795F81D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1" name="Freeform 49">
              <a:extLst>
                <a:ext uri="{FF2B5EF4-FFF2-40B4-BE49-F238E27FC236}">
                  <a16:creationId xmlns:a16="http://schemas.microsoft.com/office/drawing/2014/main" id="{4641FE6D-04B5-4BBE-B700-E3A0C057BF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2" name="Freeform 50">
              <a:extLst>
                <a:ext uri="{FF2B5EF4-FFF2-40B4-BE49-F238E27FC236}">
                  <a16:creationId xmlns:a16="http://schemas.microsoft.com/office/drawing/2014/main" id="{1426A56A-D27A-4C9A-A74C-5A73E5AD6F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3" name="Freeform 51">
              <a:extLst>
                <a:ext uri="{FF2B5EF4-FFF2-40B4-BE49-F238E27FC236}">
                  <a16:creationId xmlns:a16="http://schemas.microsoft.com/office/drawing/2014/main" id="{0D2887A6-6597-4932-AEA0-A1B3C719B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4" name="Freeform 52">
              <a:extLst>
                <a:ext uri="{FF2B5EF4-FFF2-40B4-BE49-F238E27FC236}">
                  <a16:creationId xmlns:a16="http://schemas.microsoft.com/office/drawing/2014/main" id="{32CCC3DB-409A-48A3-A79A-2E37A9603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5" name="Freeform 53">
              <a:extLst>
                <a:ext uri="{FF2B5EF4-FFF2-40B4-BE49-F238E27FC236}">
                  <a16:creationId xmlns:a16="http://schemas.microsoft.com/office/drawing/2014/main" id="{1C2C9C8A-AD45-4AA6-817C-3010FCF20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6" name="Freeform 54">
              <a:extLst>
                <a:ext uri="{FF2B5EF4-FFF2-40B4-BE49-F238E27FC236}">
                  <a16:creationId xmlns:a16="http://schemas.microsoft.com/office/drawing/2014/main" id="{BD8D346A-C641-4BD2-B5AE-C48CC6A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7" name="Freeform 55">
              <a:extLst>
                <a:ext uri="{FF2B5EF4-FFF2-40B4-BE49-F238E27FC236}">
                  <a16:creationId xmlns:a16="http://schemas.microsoft.com/office/drawing/2014/main" id="{6BD8EEEB-07A6-4582-9E40-4AA094FED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8" name="Freeform 56">
              <a:extLst>
                <a:ext uri="{FF2B5EF4-FFF2-40B4-BE49-F238E27FC236}">
                  <a16:creationId xmlns:a16="http://schemas.microsoft.com/office/drawing/2014/main" id="{9E6A63A8-37FA-425D-86BE-BF9A568AFE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9" name="Freeform 57">
              <a:extLst>
                <a:ext uri="{FF2B5EF4-FFF2-40B4-BE49-F238E27FC236}">
                  <a16:creationId xmlns:a16="http://schemas.microsoft.com/office/drawing/2014/main" id="{3F5FAEF2-49E0-4F5C-A6D4-26C2FE15F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0" name="Freeform 58">
              <a:extLst>
                <a:ext uri="{FF2B5EF4-FFF2-40B4-BE49-F238E27FC236}">
                  <a16:creationId xmlns:a16="http://schemas.microsoft.com/office/drawing/2014/main" id="{BF106702-ED0E-4145-BF3A-08F15BCC2F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9CBF6167-24C7-0708-4F2E-5D0C3AA8DB50}"/>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100"/>
              <a:t>Confusion matrices: tDcs dataset</a:t>
            </a:r>
          </a:p>
        </p:txBody>
      </p:sp>
      <p:sp>
        <p:nvSpPr>
          <p:cNvPr id="142" name="Round Diagonal Corner Rectangle 6">
            <a:extLst>
              <a:ext uri="{FF2B5EF4-FFF2-40B4-BE49-F238E27FC236}">
                <a16:creationId xmlns:a16="http://schemas.microsoft.com/office/drawing/2014/main" id="{EABB84BE-0963-460C-A606-595C4DAFF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D5081DA-D139-B05D-48D1-7638F84344E3}"/>
              </a:ext>
            </a:extLst>
          </p:cNvPr>
          <p:cNvPicPr>
            <a:picLocks noChangeAspect="1"/>
          </p:cNvPicPr>
          <p:nvPr/>
        </p:nvPicPr>
        <p:blipFill>
          <a:blip r:embed="rId4"/>
          <a:stretch>
            <a:fillRect/>
          </a:stretch>
        </p:blipFill>
        <p:spPr>
          <a:xfrm>
            <a:off x="1118988" y="2317317"/>
            <a:ext cx="2974328" cy="2215874"/>
          </a:xfrm>
          <a:prstGeom prst="rect">
            <a:avLst/>
          </a:prstGeom>
        </p:spPr>
      </p:pic>
      <p:pic>
        <p:nvPicPr>
          <p:cNvPr id="7" name="Picture 6">
            <a:extLst>
              <a:ext uri="{FF2B5EF4-FFF2-40B4-BE49-F238E27FC236}">
                <a16:creationId xmlns:a16="http://schemas.microsoft.com/office/drawing/2014/main" id="{739D2285-52F2-973C-045F-CB0ED9929139}"/>
              </a:ext>
            </a:extLst>
          </p:cNvPr>
          <p:cNvPicPr>
            <a:picLocks noChangeAspect="1"/>
          </p:cNvPicPr>
          <p:nvPr/>
        </p:nvPicPr>
        <p:blipFill>
          <a:blip r:embed="rId5"/>
          <a:stretch>
            <a:fillRect/>
          </a:stretch>
        </p:blipFill>
        <p:spPr>
          <a:xfrm>
            <a:off x="4262182" y="1136606"/>
            <a:ext cx="2964047" cy="2208215"/>
          </a:xfrm>
          <a:prstGeom prst="rect">
            <a:avLst/>
          </a:prstGeom>
        </p:spPr>
      </p:pic>
      <p:pic>
        <p:nvPicPr>
          <p:cNvPr id="5" name="Content Placeholder 4">
            <a:extLst>
              <a:ext uri="{FF2B5EF4-FFF2-40B4-BE49-F238E27FC236}">
                <a16:creationId xmlns:a16="http://schemas.microsoft.com/office/drawing/2014/main" id="{BDAE0B7C-91A8-6A45-8C4A-C8B39EB61666}"/>
              </a:ext>
            </a:extLst>
          </p:cNvPr>
          <p:cNvPicPr>
            <a:picLocks noChangeAspect="1"/>
          </p:cNvPicPr>
          <p:nvPr/>
        </p:nvPicPr>
        <p:blipFill>
          <a:blip r:embed="rId6"/>
          <a:stretch>
            <a:fillRect/>
          </a:stretch>
        </p:blipFill>
        <p:spPr>
          <a:xfrm>
            <a:off x="4262182" y="3505688"/>
            <a:ext cx="2964047" cy="2208215"/>
          </a:xfrm>
          <a:prstGeom prst="rect">
            <a:avLst/>
          </a:prstGeom>
        </p:spPr>
      </p:pic>
    </p:spTree>
    <p:extLst>
      <p:ext uri="{BB962C8B-B14F-4D97-AF65-F5344CB8AC3E}">
        <p14:creationId xmlns:p14="http://schemas.microsoft.com/office/powerpoint/2010/main" val="51040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88DB7-CF12-38E7-D344-1D6CCE8684CE}"/>
              </a:ext>
            </a:extLst>
          </p:cNvPr>
          <p:cNvSpPr>
            <a:spLocks noGrp="1"/>
          </p:cNvSpPr>
          <p:nvPr>
            <p:ph type="title"/>
          </p:nvPr>
        </p:nvSpPr>
        <p:spPr/>
        <p:txBody>
          <a:bodyPr/>
          <a:lstStyle/>
          <a:p>
            <a:r>
              <a:rPr lang="en-IN" dirty="0"/>
              <a:t>Future Directions</a:t>
            </a:r>
          </a:p>
        </p:txBody>
      </p:sp>
      <p:sp>
        <p:nvSpPr>
          <p:cNvPr id="3" name="Content Placeholder 2">
            <a:extLst>
              <a:ext uri="{FF2B5EF4-FFF2-40B4-BE49-F238E27FC236}">
                <a16:creationId xmlns:a16="http://schemas.microsoft.com/office/drawing/2014/main" id="{BC4C71C1-E0FB-2D98-BB1B-83B2F0FB441E}"/>
              </a:ext>
            </a:extLst>
          </p:cNvPr>
          <p:cNvSpPr>
            <a:spLocks noGrp="1"/>
          </p:cNvSpPr>
          <p:nvPr>
            <p:ph idx="1"/>
          </p:nvPr>
        </p:nvSpPr>
        <p:spPr/>
        <p:txBody>
          <a:bodyPr/>
          <a:lstStyle/>
          <a:p>
            <a:r>
              <a:rPr lang="en-US" dirty="0"/>
              <a:t>Future iterations could integrate additional brain signal data (e.g., EEG) to enhance FOG prediction accuracy and real-time monitoring potential.</a:t>
            </a:r>
            <a:endParaRPr lang="en-IN" dirty="0"/>
          </a:p>
        </p:txBody>
      </p:sp>
    </p:spTree>
    <p:extLst>
      <p:ext uri="{BB962C8B-B14F-4D97-AF65-F5344CB8AC3E}">
        <p14:creationId xmlns:p14="http://schemas.microsoft.com/office/powerpoint/2010/main" val="2165261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1" name="Group 10">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3"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6"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3"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8"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8"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9"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0"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41"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2"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3"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4"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5"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6"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7"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8"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49"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0"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1"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2"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53"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4"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5"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6"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7"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8"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59"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0"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1"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2"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3"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4"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65"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83D30190-43F6-4DFB-791C-C673C4282C66}"/>
              </a:ext>
            </a:extLst>
          </p:cNvPr>
          <p:cNvSpPr>
            <a:spLocks noGrp="1"/>
          </p:cNvSpPr>
          <p:nvPr>
            <p:ph type="title"/>
          </p:nvPr>
        </p:nvSpPr>
        <p:spPr>
          <a:xfrm>
            <a:off x="1876424" y="4141693"/>
            <a:ext cx="8791575" cy="1301673"/>
          </a:xfrm>
        </p:spPr>
        <p:txBody>
          <a:bodyPr vert="horz" lIns="91440" tIns="45720" rIns="91440" bIns="45720" rtlCol="0" anchor="b">
            <a:normAutofit/>
          </a:bodyPr>
          <a:lstStyle/>
          <a:p>
            <a:pPr algn="ctr"/>
            <a:r>
              <a:rPr lang="en-US" sz="4800" dirty="0"/>
              <a:t>THANK YOU</a:t>
            </a:r>
          </a:p>
        </p:txBody>
      </p:sp>
      <p:pic>
        <p:nvPicPr>
          <p:cNvPr id="6" name="Graphic 5" descr="Smiling Face with No Fill">
            <a:extLst>
              <a:ext uri="{FF2B5EF4-FFF2-40B4-BE49-F238E27FC236}">
                <a16:creationId xmlns:a16="http://schemas.microsoft.com/office/drawing/2014/main" id="{73EEBDD1-915B-00EE-DDA2-BD5FFA6246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5307" y="1108038"/>
            <a:ext cx="2893808" cy="289380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90495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{53BA47AE-64A0-4A47-A424-F7BCAED67F98}tf04033919</Template>
  <TotalTime>6359</TotalTime>
  <Words>746</Words>
  <Application>Microsoft Office PowerPoint</Application>
  <PresentationFormat>Widescreen</PresentationFormat>
  <Paragraphs>81</Paragraphs>
  <Slides>18</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Google Sans</vt:lpstr>
      <vt:lpstr>Tw Cen MT</vt:lpstr>
      <vt:lpstr>Circuit</vt:lpstr>
      <vt:lpstr>Detecting Freezing of Gait Episodes in Parkinson's Disease Patients using Deep Learning</vt:lpstr>
      <vt:lpstr>Understanding Freezing of Gait (FOG) in Parkinson's Disease</vt:lpstr>
      <vt:lpstr>Video: comparison before and after tdcs</vt:lpstr>
      <vt:lpstr>THE DATASET</vt:lpstr>
      <vt:lpstr>Dataset contd..</vt:lpstr>
      <vt:lpstr>Dataset contd..</vt:lpstr>
      <vt:lpstr>Data cleaning and exploration(Defog dataset)</vt:lpstr>
      <vt:lpstr>Data cleaning and exploration(TDCS dataset)</vt:lpstr>
      <vt:lpstr>Initial Objective</vt:lpstr>
      <vt:lpstr>Shift in Approach</vt:lpstr>
      <vt:lpstr>Feature engineering</vt:lpstr>
      <vt:lpstr>Challenges Faced</vt:lpstr>
      <vt:lpstr>RESULTS</vt:lpstr>
      <vt:lpstr>RESults contd..</vt:lpstr>
      <vt:lpstr>Confusion matrices: Base dataset</vt:lpstr>
      <vt:lpstr>Confusion matrices: tDcs dataset</vt:lpstr>
      <vt:lpstr>Future Directions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Stanly Keecheril, Rahul</dc:creator>
  <cp:lastModifiedBy>Stanly Keecheril, Rahul</cp:lastModifiedBy>
  <cp:revision>4</cp:revision>
  <dcterms:created xsi:type="dcterms:W3CDTF">2024-10-24T10:15:49Z</dcterms:created>
  <dcterms:modified xsi:type="dcterms:W3CDTF">2024-10-31T22:53:50Z</dcterms:modified>
</cp:coreProperties>
</file>